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d3fffa5c1242ca" /><Relationship Type="http://schemas.openxmlformats.org/officeDocument/2006/relationships/extended-properties" Target="/docProps/app.xml" Id="R8ddc7031c68345c1" /><Relationship Type="http://schemas.openxmlformats.org/officeDocument/2006/relationships/officeDocument" Target="/ppt/presentation.xml" Id="Rf0943f5ad0fb44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43a0cacd9949c7"/>
  </p:sldMasterIdLst>
  <p:notesMasterIdLst>
    <p:notesMasterId xmlns:r="http://schemas.openxmlformats.org/officeDocument/2006/relationships" r:id="R293d5fecccf5476e"/>
  </p:notesMasterIdLst>
  <p:sldIdLst>
    <p:sldId xmlns:r="http://schemas.openxmlformats.org/officeDocument/2006/relationships" id="256" r:id="Rb197092d00b44c8c"/>
    <p:sldId xmlns:r="http://schemas.openxmlformats.org/officeDocument/2006/relationships" id="257" r:id="Rd2effb63fcac4a65"/>
    <p:sldId xmlns:r="http://schemas.openxmlformats.org/officeDocument/2006/relationships" id="258" r:id="R7449e9a47a93400f"/>
    <p:sldId xmlns:r="http://schemas.openxmlformats.org/officeDocument/2006/relationships" id="259" r:id="R67ea084409844e25"/>
    <p:sldId xmlns:r="http://schemas.openxmlformats.org/officeDocument/2006/relationships" id="260" r:id="R9fa1e0f0872a4ad0"/>
    <p:sldId xmlns:r="http://schemas.openxmlformats.org/officeDocument/2006/relationships" id="261" r:id="Rd9076d32cddd47a4"/>
    <p:sldId xmlns:r="http://schemas.openxmlformats.org/officeDocument/2006/relationships" id="262" r:id="R80f56121f9fb43b2"/>
    <p:sldId xmlns:r="http://schemas.openxmlformats.org/officeDocument/2006/relationships" id="263" r:id="R43eb01e57dd54da3"/>
    <p:sldId xmlns:r="http://schemas.openxmlformats.org/officeDocument/2006/relationships" id="264" r:id="R6e99d61bd2d645cf"/>
    <p:sldId xmlns:r="http://schemas.openxmlformats.org/officeDocument/2006/relationships" id="265" r:id="Rb057b959c20b487d"/>
    <p:sldId xmlns:r="http://schemas.openxmlformats.org/officeDocument/2006/relationships" id="266" r:id="R5b72ef1c91da4224"/>
    <p:sldId xmlns:r="http://schemas.openxmlformats.org/officeDocument/2006/relationships" id="267" r:id="Ra95d0e9035934579"/>
    <p:sldId xmlns:r="http://schemas.openxmlformats.org/officeDocument/2006/relationships" id="268" r:id="R27faa124e16f46cf"/>
    <p:sldId xmlns:r="http://schemas.openxmlformats.org/officeDocument/2006/relationships" id="269" r:id="R8e7435bdf56c4032"/>
    <p:sldId xmlns:r="http://schemas.openxmlformats.org/officeDocument/2006/relationships" id="270" r:id="R8f72f9a659384c2d"/>
    <p:sldId xmlns:r="http://schemas.openxmlformats.org/officeDocument/2006/relationships" id="271" r:id="Rcc84af2201e54ca0"/>
    <p:sldId xmlns:r="http://schemas.openxmlformats.org/officeDocument/2006/relationships" id="272" r:id="R1b92d967129b4f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d7ccac38cf49c4" /><Relationship Type="http://schemas.openxmlformats.org/officeDocument/2006/relationships/slideMaster" Target="/ppt/slideMasters/slideMaster1.xml" Id="R8b43a0cacd9949c7" /><Relationship Type="http://schemas.openxmlformats.org/officeDocument/2006/relationships/notesMaster" Target="/ppt/notesMasters/notesMaster1.xml" Id="R293d5fecccf5476e" /><Relationship Type="http://schemas.openxmlformats.org/officeDocument/2006/relationships/presProps" Target="/ppt/presProps.xml" Id="Ra4b1c1d7d9d14986" /><Relationship Type="http://schemas.openxmlformats.org/officeDocument/2006/relationships/tableStyles" Target="/ppt/tableStyles.xml" Id="Rf5bbcbcc825b4d31" /><Relationship Type="http://schemas.openxmlformats.org/officeDocument/2006/relationships/slide" Target="/ppt/slides/slide1.xml" Id="Rb197092d00b44c8c" /><Relationship Type="http://schemas.openxmlformats.org/officeDocument/2006/relationships/slide" Target="/ppt/slides/slide2.xml" Id="Rd2effb63fcac4a65" /><Relationship Type="http://schemas.openxmlformats.org/officeDocument/2006/relationships/slide" Target="/ppt/slides/slide3.xml" Id="R7449e9a47a93400f" /><Relationship Type="http://schemas.openxmlformats.org/officeDocument/2006/relationships/slide" Target="/ppt/slides/slide4.xml" Id="R67ea084409844e25" /><Relationship Type="http://schemas.openxmlformats.org/officeDocument/2006/relationships/slide" Target="/ppt/slides/slide5.xml" Id="R9fa1e0f0872a4ad0" /><Relationship Type="http://schemas.openxmlformats.org/officeDocument/2006/relationships/slide" Target="/ppt/slides/slide6.xml" Id="Rd9076d32cddd47a4" /><Relationship Type="http://schemas.openxmlformats.org/officeDocument/2006/relationships/slide" Target="/ppt/slides/slide7.xml" Id="R80f56121f9fb43b2" /><Relationship Type="http://schemas.openxmlformats.org/officeDocument/2006/relationships/slide" Target="/ppt/slides/slide8.xml" Id="R43eb01e57dd54da3" /><Relationship Type="http://schemas.openxmlformats.org/officeDocument/2006/relationships/slide" Target="/ppt/slides/slide9.xml" Id="R6e99d61bd2d645cf" /><Relationship Type="http://schemas.openxmlformats.org/officeDocument/2006/relationships/slide" Target="/ppt/slides/slide10.xml" Id="Rb057b959c20b487d" /><Relationship Type="http://schemas.openxmlformats.org/officeDocument/2006/relationships/slide" Target="/ppt/slides/slide11.xml" Id="R5b72ef1c91da4224" /><Relationship Type="http://schemas.openxmlformats.org/officeDocument/2006/relationships/slide" Target="/ppt/slides/slide12.xml" Id="Ra95d0e9035934579" /><Relationship Type="http://schemas.openxmlformats.org/officeDocument/2006/relationships/slide" Target="/ppt/slides/slide13.xml" Id="R27faa124e16f46cf" /><Relationship Type="http://schemas.openxmlformats.org/officeDocument/2006/relationships/slide" Target="/ppt/slides/slide14.xml" Id="R8e7435bdf56c4032" /><Relationship Type="http://schemas.openxmlformats.org/officeDocument/2006/relationships/slide" Target="/ppt/slides/slide15.xml" Id="R8f72f9a659384c2d" /><Relationship Type="http://schemas.openxmlformats.org/officeDocument/2006/relationships/slide" Target="/ppt/slides/slide16.xml" Id="Rcc84af2201e54ca0" /><Relationship Type="http://schemas.openxmlformats.org/officeDocument/2006/relationships/slide" Target="/ppt/slides/slide17.xml" Id="R1b92d967129b4f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5405e5d5f443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f859dc6cea4d81" /><Relationship Type="http://schemas.openxmlformats.org/officeDocument/2006/relationships/notesMaster" Target="/ppt/notesMasters/notesMaster1.xml" Id="R48e9fa9a331741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044e6399824955" /><Relationship Type="http://schemas.openxmlformats.org/officeDocument/2006/relationships/notesMaster" Target="/ppt/notesMasters/notesMaster1.xml" Id="Re47bcbffe83e40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d28a689c334696" /><Relationship Type="http://schemas.openxmlformats.org/officeDocument/2006/relationships/notesMaster" Target="/ppt/notesMasters/notesMaster1.xml" Id="R934033e4858042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272344f7594879" /><Relationship Type="http://schemas.openxmlformats.org/officeDocument/2006/relationships/notesMaster" Target="/ppt/notesMasters/notesMaster1.xml" Id="R42dc925d843a47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2cb185ec874b10" /><Relationship Type="http://schemas.openxmlformats.org/officeDocument/2006/relationships/notesMaster" Target="/ppt/notesMasters/notesMaster1.xml" Id="Rb27a255f161243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8d703e3f9a43f9" /><Relationship Type="http://schemas.openxmlformats.org/officeDocument/2006/relationships/notesMaster" Target="/ppt/notesMasters/notesMaster1.xml" Id="R3ae0b3128f324b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3b1fb828b147b9" /><Relationship Type="http://schemas.openxmlformats.org/officeDocument/2006/relationships/notesMaster" Target="/ppt/notesMasters/notesMaster1.xml" Id="R414b9cf54cb84e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6c732eb2814968" /><Relationship Type="http://schemas.openxmlformats.org/officeDocument/2006/relationships/notesMaster" Target="/ppt/notesMasters/notesMaster1.xml" Id="Re75379c4492745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5afc82dcab4ab2" /><Relationship Type="http://schemas.openxmlformats.org/officeDocument/2006/relationships/notesMaster" Target="/ppt/notesMasters/notesMaster1.xml" Id="R6ea631946ed545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f2ca97748a4e5d" /><Relationship Type="http://schemas.openxmlformats.org/officeDocument/2006/relationships/notesMaster" Target="/ppt/notesMasters/notesMaster1.xml" Id="R7648ea68ed8f46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8fc7c4c60f46be" /><Relationship Type="http://schemas.openxmlformats.org/officeDocument/2006/relationships/notesMaster" Target="/ppt/notesMasters/notesMaster1.xml" Id="R6ba8b484623442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a19096c3344f14" /><Relationship Type="http://schemas.openxmlformats.org/officeDocument/2006/relationships/notesMaster" Target="/ppt/notesMasters/notesMaster1.xml" Id="R6499d612694b46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5daa4ef749443d" /><Relationship Type="http://schemas.openxmlformats.org/officeDocument/2006/relationships/notesMaster" Target="/ppt/notesMasters/notesMaster1.xml" Id="R73ca1f98d03649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1dd30d31124225" /><Relationship Type="http://schemas.openxmlformats.org/officeDocument/2006/relationships/notesMaster" Target="/ppt/notesMasters/notesMaster1.xml" Id="Red2f27b230d14d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3d61d4b90f41c4" /><Relationship Type="http://schemas.openxmlformats.org/officeDocument/2006/relationships/notesMaster" Target="/ppt/notesMasters/notesMaster1.xml" Id="Rbb99b1f6f51643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07a67bf3db405b" /><Relationship Type="http://schemas.openxmlformats.org/officeDocument/2006/relationships/notesMaster" Target="/ppt/notesMasters/notesMaster1.xml" Id="Rd13a57fd470d40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ad252b133943dc" /><Relationship Type="http://schemas.openxmlformats.org/officeDocument/2006/relationships/notesMaster" Target="/ppt/notesMasters/notesMaster1.xml" Id="Rb3a42eb29d5445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db969a7da42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0100c9b0ec4312" /><Relationship Type="http://schemas.openxmlformats.org/officeDocument/2006/relationships/slideLayout" Target="/ppt/slideLayouts/slideLayout1.xml" Id="R8f3560414c1e47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3560414c1e47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9357ae7fc431f" /><Relationship Type="http://schemas.openxmlformats.org/officeDocument/2006/relationships/notesSlide" Target="/ppt/notesSlides/notesSlide1.xml" Id="R61bf0148317a46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ced14517143d8" /><Relationship Type="http://schemas.openxmlformats.org/officeDocument/2006/relationships/notesSlide" Target="/ppt/notesSlides/notesSlide2.xml" Id="R535e76d0a56a47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b825ac5e842e7" /><Relationship Type="http://schemas.openxmlformats.org/officeDocument/2006/relationships/notesSlide" Target="/ppt/notesSlides/notesSlide3.xml" Id="R9f2be2f67ff64e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afc06605e4610" /><Relationship Type="http://schemas.openxmlformats.org/officeDocument/2006/relationships/notesSlide" Target="/ppt/notesSlides/notesSlide4.xml" Id="R41e9deaa2e3d42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408012b7946b6" /><Relationship Type="http://schemas.openxmlformats.org/officeDocument/2006/relationships/notesSlide" Target="/ppt/notesSlides/notesSlide5.xml" Id="R493d13e2864a47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9bc5f344e47eb" /><Relationship Type="http://schemas.openxmlformats.org/officeDocument/2006/relationships/notesSlide" Target="/ppt/notesSlides/notesSlide6.xml" Id="R4e6636ff457e47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5b56868704f5d" /><Relationship Type="http://schemas.openxmlformats.org/officeDocument/2006/relationships/notesSlide" Target="/ppt/notesSlides/notesSlide7.xml" Id="Rc46f2a2c789145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74e618fd245ec" /><Relationship Type="http://schemas.openxmlformats.org/officeDocument/2006/relationships/notesSlide" Target="/ppt/notesSlides/notesSlide8.xml" Id="R4db37a69d55041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35bb377a0484d" /><Relationship Type="http://schemas.openxmlformats.org/officeDocument/2006/relationships/notesSlide" Target="/ppt/notesSlides/notesSlide9.xml" Id="R54a1242f5cf64f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b75482a9745e5" /><Relationship Type="http://schemas.openxmlformats.org/officeDocument/2006/relationships/notesSlide" Target="/ppt/notesSlides/notesSlide10.xml" Id="Re8d37d1519df4e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6df00012f487d" /><Relationship Type="http://schemas.openxmlformats.org/officeDocument/2006/relationships/notesSlide" Target="/ppt/notesSlides/notesSlide11.xml" Id="R1637b6af79d642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82fe4ab2f4093" /><Relationship Type="http://schemas.openxmlformats.org/officeDocument/2006/relationships/notesSlide" Target="/ppt/notesSlides/notesSlide12.xml" Id="Ref43f28fffc744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b5ec9bee645e5" /><Relationship Type="http://schemas.openxmlformats.org/officeDocument/2006/relationships/notesSlide" Target="/ppt/notesSlides/notesSlide13.xml" Id="R411f3a59ad3d47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afa1d777f4908" /><Relationship Type="http://schemas.openxmlformats.org/officeDocument/2006/relationships/notesSlide" Target="/ppt/notesSlides/notesSlide14.xml" Id="R932ac8055acd4b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b1849b536472e" /><Relationship Type="http://schemas.openxmlformats.org/officeDocument/2006/relationships/notesSlide" Target="/ppt/notesSlides/notesSlide15.xml" Id="R11717945460643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06cef6b0d4d87" /><Relationship Type="http://schemas.openxmlformats.org/officeDocument/2006/relationships/notesSlide" Target="/ppt/notesSlides/notesSlide16.xml" Id="R42fa4e0b311947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0033c0fd64859" /><Relationship Type="http://schemas.openxmlformats.org/officeDocument/2006/relationships/notesSlide" Target="/ppt/notesSlides/notesSlide17.xml" Id="Rfee4f40c4a984a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DD0053-8561-4ADB-9497-D7F253AE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B9D66-B853-42CF-AE76-F7F05538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01/17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0D8D1-D1A3-486C-9E29-C60C8633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30초 안에 전체 구조를 이해한다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12403-44A7-4886-A66D-1B4F6902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Host를 유지할지 바꿀지 판단하는 전투 루프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0CD69-D675-491B-AF34-D5B8C1DA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7FA8F-9A64-4970-888C-59B848D4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1381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F1F03-6422-41D0-B01B-65F68EC7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80408-AC6B-46DC-8B85-AD83810A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05000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CHAPTER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62D56-1C2D-4CBA-875F-1A8AC49B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90750"/>
            <a:ext cx="1114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7321B-21F7-40DE-B784-E1EF1972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57400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65504-6A75-463A-9085-C09D2D42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09750"/>
            <a:ext cx="1381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9D7AA-78AA-4947-B0C4-F85781D0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09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43672-1273-4A26-BDC2-0891D3EA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05000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POSSESSION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5A4D6-99F2-4FA5-8ACD-F700ACC7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90750"/>
            <a:ext cx="1114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4604D-C7DD-47FC-8365-0D22664B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50626-C343-4FA8-AE15-10D54DEB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09750"/>
            <a:ext cx="1381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67C5C-7B6F-42EB-B399-244D696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09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4C47A-5AD1-48C0-B2D3-461C7553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05000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HOST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E89DE-9C5E-4BDB-8D87-EF6E554D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190750"/>
            <a:ext cx="1114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Combat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17E32-24E1-4B9C-A37A-1E9469B9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57400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9F6EB-07EE-42E5-B2BA-AB2A67EB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9750"/>
            <a:ext cx="1381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0979A-7909-4BA1-B250-29E127B5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9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B1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DB8C2-AB8A-4A5C-8E96-6DA3808C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05000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F3DB10-293C-40F0-9418-295DB0E4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1114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Keep / Switch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C86F7-D122-466B-936B-43E0D195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57400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A24E55-AAC7-4B8C-B7C8-23B6460C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09750"/>
            <a:ext cx="1381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8C8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3A039-73C3-4EFD-A899-126C3C50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09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9"/>
          </a:solidFill>
          <a:ln xmlns:a="http://schemas.openxmlformats.org/drawingml/2006/main" w="9525">
            <a:solidFill>
              <a:srgbClr val="078C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91CF7-4A87-4B80-9F28-7FCC6D6A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05000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BUILD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0D70B3-5D59-41A4-8BFE-6075055B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190750"/>
            <a:ext cx="1114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Buff / Synergy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DBCC6F-DA8F-4633-AD25-2FBA81FC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57400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801453-BAC2-4951-BF57-6F36B7B0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1381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B9C5B-B943-4896-A675-730AA858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1E2D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2A5058-A3AA-485E-AE46-D71965CC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05000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BOSS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4EC772-32D4-4D61-A7C2-A7ACC626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1114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Payoff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56AC03-C527-497B-9623-4541BF3D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57400"/>
            <a:ext cx="23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52EC6B-DFD4-444C-B2DA-2637987E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809750"/>
            <a:ext cx="1381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A3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9C0293-6B96-47BC-9A1F-8FE6BCD3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8097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5A"/>
          </a:solidFill>
          <a:ln xmlns:a="http://schemas.openxmlformats.org/drawingml/2006/main" w="9525">
            <a:solidFill>
              <a:srgbClr val="24A35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3B2146-041F-4C08-ACB5-DA1E82AB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905000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GROWTH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FE0167-F906-4414-9972-ADF3B7B3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190750"/>
            <a:ext cx="1114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Next Chapter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0DE314-D3E9-4197-8A3A-02D45F98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05125"/>
            <a:ext cx="11430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90163A-D541-43E0-9439-5D00C2EA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CORE LOCKS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9A7A88-23AC-4396-AE52-03CC57AD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7185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A183ED-A9D2-402A-857F-0A29A7C2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71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AF617E-AB3C-43B4-ACD2-58A2F3EB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671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MOVE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29F292-7192-415F-8DE1-2078E33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52850"/>
            <a:ext cx="173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Attack OFF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4CD7C5-5B83-4883-BA7D-EDD68167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7185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740CB2-F79F-487E-AC83-963D9AC1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71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92BC40-2D00-4809-927E-D1200654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4671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STOP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A5CF8A-992E-4C3D-ACBB-6EC9CBDF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752850"/>
            <a:ext cx="173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0.15s → Auto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997E2C7-348A-4B57-BF03-51B93A6F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37185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A535AB-17BA-46E0-BB90-03C71D4C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371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1E2D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A3F624-6BE8-4B6B-A45E-7C0F11B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4671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BOSS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D5A5F3-A34D-4DE4-888C-434C55B2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752850"/>
            <a:ext cx="173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Not Possessable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5399F2-8796-4B16-969F-C63B0693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7185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68E974-C41F-4B74-B8AA-519560D1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371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CCB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D7564E-F49C-4A86-8423-00711B6B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671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DEATH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210941-424B-463D-B9BC-DEDC88DC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752850"/>
            <a:ext cx="173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Host → Ghost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97ADC2-25D6-4C10-BE19-D95ECF97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37185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14F67C-4297-46CD-9975-B1E91596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371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502F35-CEB0-4B46-A361-228DFF88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TACTICAL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86BF68-08B6-4FE7-AC6D-195226A3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52850"/>
            <a:ext cx="1733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Alive Host Switch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0CDB29-7432-4383-B46A-2E093DD3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74D8"/>
                </a:solidFill>
              </a:defRPr>
            </a:pPr>
            <a:r>
              <a:rPr sz="1650" b="1">
                <a:solidFill>
                  <a:srgbClr val="2474D8"/>
                </a:solidFill>
              </a:rPr>
              <a:t>CH1  DISCOVER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B86EDDD-70FE-4F15-BDEE-05C19B0D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196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4F2C5D-1ECF-45CD-856C-3EB79AC1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29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8C89"/>
                </a:solidFill>
              </a:defRPr>
            </a:pPr>
            <a:r>
              <a:rPr sz="1650" b="1">
                <a:solidFill>
                  <a:srgbClr val="078C89"/>
                </a:solidFill>
              </a:rPr>
              <a:t>CH2  DECISION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1D3657-E2B8-4D18-AE47-E3836616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6196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A06E93-DEB4-43D2-84C8-466AC4FC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D1E2D"/>
                </a:solidFill>
              </a:defRPr>
            </a:pPr>
            <a:r>
              <a:rPr sz="1650" b="1">
                <a:solidFill>
                  <a:srgbClr val="8D1E2D"/>
                </a:solidFill>
              </a:rPr>
              <a:t>CH3  MASTERY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8893E8-2F5A-4442-A8CC-B8E4108B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19700"/>
            <a:ext cx="8477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4DEE42-2293-4D03-8A5C-83B7E776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37B18"/>
                </a:solidFill>
              </a:defRPr>
            </a:pPr>
            <a:r>
              <a:rPr sz="1650" b="1">
                <a:solidFill>
                  <a:srgbClr val="E37B18"/>
                </a:solidFill>
              </a:rPr>
              <a:t>많이 바꾸는 게임이 아니다.  “지금 유지할까, 지금 바꿀까?”가 계속 성립해야 한다.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0FF468-EF8B-423F-8748-59C7E0FB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Core Combat v3.1 · Runtime v1.5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AE0E10-DC99-4C0B-BB9A-53AB5731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Host 교체가 공격·생존·빌드 판단으로 작동</a:t>
            </a:r>
          </a:p>
        </p:txBody>
      </p:sp>
    </p:spTree>
    <p:extLst>
      <p:ext uri="{BB962C8B-B14F-4D97-AF65-F5344CB8AC3E}">
        <p14:creationId xmlns:p14="http://schemas.microsoft.com/office/powerpoint/2010/main" val="613905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38EBAA-109C-4D44-8A77-1998A6FA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1C236-645C-4A4E-930A-0434FFDE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02/17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D1B6F-7C1D-4624-9744-693A111C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Runtime부터 만들고 Importer는 나중에 만든다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10418-C7F9-4491-B786-B1E44A99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개발 순서와 단계별 Gate를 고정한다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53999-3A9E-4D21-84E4-A670C2DB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1392A-129F-4018-80D6-99472691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1466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BB83A-9E4C-408F-A9A6-04F75193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F01DF-AE09-4A2D-847E-23D39F6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P0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E9825-D0F9-427F-B919-316CEADE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200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Runtime Foundation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State / ID / Registry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BCC6F-2D2F-4A2E-A492-AB3CEF97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8600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25A92-DEB7-4C97-A0DE-0E381E1D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85950"/>
            <a:ext cx="1466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0F964-CE34-49F8-A50D-B0194011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859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D05E8-9B7C-4FB0-A49B-C0DD9323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81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P1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2D06B-4D5A-4646-A9CC-3C6AA66D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66950"/>
            <a:ext cx="1200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CH1_N01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17-Step Smoke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33237-44E8-4B61-A8D1-1D760484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8600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F72D2-7282-47E0-A17F-12489F5A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1466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28D1E1-94CC-4F52-AD22-44409072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A1B68-0318-46BC-83F5-21359159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81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P2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96BA7-23B8-4904-B827-6EBD4F47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66950"/>
            <a:ext cx="1200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Importer + Generator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JSON → Room Prefab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D2EA3-7539-4F9F-A0FE-39BDF4F5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8600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8894F-D28F-4F93-B1B4-D2BB4AC6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85950"/>
            <a:ext cx="1466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71865-D083-4929-86FB-263509BA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859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2ACD8-8B77-4C49-A56F-A52A07FB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81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P3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6A9CBD-2AC3-43F7-A0E5-B250E091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66950"/>
            <a:ext cx="1200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CH1 Full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B01 + Growth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283ADD-D5C5-451F-B2D0-E5C8D76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F373F4-9CAB-489F-A73F-80D91422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85950"/>
            <a:ext cx="1466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1892A0-A3BF-499F-A245-9E53FD48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859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5B6F36-BC9D-4DDC-9593-6F38F5A6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P4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207E2-525B-4A9B-BC07-B1758BE8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1200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CH2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Branch + B02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13C106-55D0-4399-BB9E-0D55B580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8600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E24498-0B34-4346-9418-3715A44D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85950"/>
            <a:ext cx="1466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71CD4F-4216-4D15-B05F-0B672D17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859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0DFC07-40EE-437C-ADEF-68AB2650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81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P5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B7992D-144B-4094-837E-90E0FF70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1200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CH3 Full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B03 + Save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30353D-4D97-4DFE-A4F3-3863ECD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67A768-5D15-43F3-B316-61D33648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85950"/>
            <a:ext cx="1466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4DE2D9-ABE7-442F-882F-25DA3D70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859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9F33AD-2FB7-477B-80EE-066A43CB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9812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P6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BCC6BF-789B-40D6-BCE9-2E7494BB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66950"/>
            <a:ext cx="1200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Art Swap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ViewRoot 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15C0C0-DD2B-4D3C-A8E9-0984247A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1076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E92D11-2A33-4E85-A450-5F4B8A5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37B18"/>
                </a:solidFill>
              </a:defRPr>
            </a:pPr>
            <a:r>
              <a:rPr sz="1725" b="1">
                <a:solidFill>
                  <a:srgbClr val="E37B18"/>
                </a:solidFill>
              </a:rPr>
              <a:t>금지  Importer 선행 개발 → 데이터만 쌓이고 플레이 가능한 최소 루프가 늦어진다.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C7C8D1-3702-44FE-98E4-069A4509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76750"/>
            <a:ext cx="36957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EBBFA6-F086-4ADF-BFB0-43AF6CCC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8627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82274F-C113-4643-BF64-599C529F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3390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A11BB7-5946-4C19-8ADE-C88AC78C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D4BBFC-2E37-42DB-821E-B772E7CC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292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Runtime JSON v1.5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3D6338-9852-45A0-BC35-D77AAE7E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AA5C09-EBFE-4DC7-A55B-1F3DF200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911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Prefab Contract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63B585-049D-454D-B9D9-2EF5A464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29B8CC-D3D4-4250-9F9D-65EB8A69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531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Room Coordinate Data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3C2301-1304-4B81-AA02-AA81046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36957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97652E-C924-46F8-8AAC-70837437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48627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37B1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407A84-8E02-495C-AD33-F2C50494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3390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GATE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1E0198-F6A6-4053-8FBA-DB096E19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292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AFA383-B414-437C-907D-826A7F47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292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Compile Error 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5B5D4B-CDD8-4546-B8EE-C4D7CB2F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911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AF23D7-CC0A-4B5E-B15D-1242CCC2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3911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Smoke PASS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5E06D9-BFF1-48BC-9A5B-721DEE7F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7531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7B3B05-FC93-4F3F-A637-7980A75F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7531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Blocker Error 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BA9564-F93A-4D4F-99D0-66AC2D08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6957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83B30E-270C-4FEC-9713-3091D80E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8627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F9D55"/>
          </a:solidFill>
          <a:ln xmlns:a="http://schemas.openxmlformats.org/drawingml/2006/main" w="9525">
            <a:solidFill>
              <a:srgbClr val="1F9D5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CC7EEA-5B0F-4E08-8B5D-4960E0CA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3390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242FFEC-906C-4766-87D9-F8027A65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292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3E3B58-D444-4EA4-B284-2543B9B3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292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Build ID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334041B-636A-4657-8A90-5765434C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911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F7DC1C-580D-471F-91C6-83535390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911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Validation Report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CFAF20-080F-4031-8B33-386600B3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531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574A82F-1D5B-4ACA-9D31-20C390D7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7531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Playtest Result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6C02850-95C7-4C0E-8E08-9FCBF066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IMPLEMENTATION_ORDER · MILESTONE_ACCEPTANCE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D6AF77-7976-4931-BDBE-BD9A967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각 단계 Exit Criteria 통과 후 다음 단계 진행</a:t>
            </a:r>
          </a:p>
        </p:txBody>
      </p:sp>
    </p:spTree>
    <p:extLst>
      <p:ext uri="{BB962C8B-B14F-4D97-AF65-F5344CB8AC3E}">
        <p14:creationId xmlns:p14="http://schemas.microsoft.com/office/powerpoint/2010/main" val="19297000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34B97E-8743-4008-9065-88F88F66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3CAD0-5D31-414A-9397-466DD1F2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03/17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3B5B0-441F-4917-86ED-AD3FC20E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데이터는 한 방향으로만 Unity에 들어간다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0A85F-750E-4B11-9E93-AB79F544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ID·검증·Fallback 경계를 명확히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CF97F-55A8-4135-AB2A-0C03E11A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AB721-C95D-458F-A2C8-B204A725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1447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C5863-A695-4E41-8CEC-CEB00087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E4708-378D-443A-AB36-9A417D5D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050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MASTER XLSX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82AE3-27A8-4D04-BF48-B211A845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90750"/>
            <a:ext cx="1181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Authoring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5BF5C-2517-44E4-8454-66AF4B00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764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3FE4F-056F-42EA-98F8-F0A24E08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809750"/>
            <a:ext cx="1447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692D5-45F5-49A8-87A7-873510E5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8097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50C43-E282-4DA2-94AF-B2D47C01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050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VALIDATOR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EDDB7-F988-4DEA-8F94-0AC288C4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90750"/>
            <a:ext cx="1181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ID / Ref / 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BE7E2-1871-4B33-AA83-12490302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A6420-B053-4C13-B0C5-C69EE0E6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09750"/>
            <a:ext cx="1447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F4703-AE42-497F-8E29-08408732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097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2B429-0EC0-4FA7-974B-FE84D6A6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9050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RUNTIME 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F39248-D880-4D10-A418-67A84A37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190750"/>
            <a:ext cx="1181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v1.5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03C7C-7D4D-49F0-AE9A-F0F4E542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764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704B3-4B80-41B1-825A-43111F1E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809750"/>
            <a:ext cx="1447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AB8D1-D0C8-46D1-8EEF-D8CCD521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8097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A5281-787E-48E4-BA2D-D17DEC6E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9050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IMPORTER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CDBDE-843C-47F8-ADD8-51F4ACE0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190750"/>
            <a:ext cx="1181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Idempotent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0EA34B-286F-4474-B1FC-2907B475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764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EC030B-DC66-4107-A153-25AF0659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09750"/>
            <a:ext cx="1447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8C3C25-38D0-43A1-9774-7DB056B7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097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E9AD5-5006-4883-B807-6193770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050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DATA ASSET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5A4A53-9710-41B1-9F34-5686EA8D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190750"/>
            <a:ext cx="1181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Runtime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F1BA6A-CAA6-4012-B85D-33ACC921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FA9AE0-A5E7-464A-8B6B-46CD5070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1447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FB3EBC-9AE1-41EC-8183-7D0A201C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4B8F40-0AF9-4B75-A341-BF853041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050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PREFAB REGISTRY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302F8F-88E3-48BB-B3E5-FC73BB83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190750"/>
            <a:ext cx="1181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Resolve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A7E7A0-750C-47B9-9D43-515B6AB3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7645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C4AE25-AAA2-4753-9976-BC996E85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809750"/>
            <a:ext cx="1447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5D34AA-2D69-4A5C-B054-6F6F7AB4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8097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2732DD-BCBC-42AA-8D1B-B70F04C4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9050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ROOM PREFAB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2183CF-E655-4FA0-B1B6-EBB7FA30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90750"/>
            <a:ext cx="1181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Playable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09BEB-50C4-45B6-A147-92EDC2D0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0"/>
            <a:ext cx="3695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9CCF6B-3287-486C-8112-53623C7E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5752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F847A1-15E7-4109-A3A6-EF80D457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0515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ID RULE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9807F3-3D72-48E3-878D-33C5E48F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A55248-7189-4A20-B53F-CB064246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004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H01 / E001 / B01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26704E-8672-4B2F-9912-E44C0DCE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EB8426-15A4-4A45-90AE-88B4D21F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624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Gate = HostID / PoolID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4CB8F2-A9AB-4E34-876B-A5E7E5D5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6E27DD-BD61-4AB3-A9BD-436EAF60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243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DisplayName 참조 금지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3F50C6-57FE-4136-9EC7-BA68CD8A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8000"/>
            <a:ext cx="3695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113ED2-EECF-42E1-9E8B-599E66F2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5752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60C940-7471-46F7-B8C1-6E7121B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0515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SPAWN SOURCE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C26908-88FB-48BE-8B4F-57E17F78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FF92A1-A9E8-4F33-B0EF-DBED6422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004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layout.enemySpawns ONLY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453D67-C820-4926-AE9F-09252CCE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624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4DB9B1-C30E-40DF-A346-A1362034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624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104 Records / 74 Coords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B111F0-9F77-4E2D-B888-9C8796F1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243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433A3B-C2D4-44B6-98E2-9C2AA972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243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Top-level spawns 제거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686A1A-F52C-43F9-B54A-1D8E8D6F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3695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8E21F2-7BA4-480E-B255-5F11777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5752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37B1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BF5693-439A-4863-A2FD-542A7BD4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0515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CONTRACT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6BC564-4B21-433A-B345-9344804D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5C40E9-7B37-4A75-B5C1-68E5E827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04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Field Order / Type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764C3E-3F4B-4A25-949E-EADE932C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39E063-2622-4FCF-8732-E65A6B6E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624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Required / Default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8437B9-7983-4350-97DA-4CB09B5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8CBB6B0-07ED-422C-BF1D-A2728D64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243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HostRef null 금지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34ACFCB-7156-49D8-9A64-753E6624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382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79EC90-CAD0-4E57-9712-57593EAE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44A4A"/>
                </a:solidFill>
              </a:defRPr>
            </a:pPr>
            <a:r>
              <a:rPr sz="1500" b="1">
                <a:solidFill>
                  <a:srgbClr val="E44A4A"/>
                </a:solidFill>
              </a:rPr>
              <a:t>DON'T  XLSX Runtime Read · 이름 문자열 참조 · JSON/XLSX 수동 이중관리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EB09EE6-A7D2-4A96-8401-4489B939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MASTER v1.5 · DATA_CONTRACT v1.5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9C86250-383B-462D-A277-B83AD1F3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Spawn Source 1개 · HostRef null 0 · 참조 오류 0</a:t>
            </a:r>
          </a:p>
        </p:txBody>
      </p:sp>
    </p:spTree>
    <p:extLst>
      <p:ext uri="{BB962C8B-B14F-4D97-AF65-F5344CB8AC3E}">
        <p14:creationId xmlns:p14="http://schemas.microsoft.com/office/powerpoint/2010/main" val="4898564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81FF9B-05E8-4AE4-9114-652B2C6B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48B44-6208-4342-8553-B8DA5832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04/17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96BEC-B611-4E54-86B8-DA9E7A5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Room Prefab은 데이터에서 반복 생성한다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78834-CE5B-45CD-9E13-1A2B9853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Generated Root와 Designer Override를 분리한다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BAE57-DBE1-404E-A72A-A0FDE7FE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AB12C-AD15-4D53-AAE9-5CA64942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49530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1911E-F62A-4D1C-9FB4-08CCE605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4933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2CC7B-C087-4316-82B5-483E42B7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PF_ROOM_CH1_N01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4B40A-010B-41EF-9BF4-967EB6A1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●  RoomController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3E45E-0480-4586-B8FE-F37E20AA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36"/>
                </a:solidFill>
              </a:defRPr>
            </a:pPr>
            <a:r>
              <a:rPr sz="1275" b="0">
                <a:solidFill>
                  <a:srgbClr val="0B1736"/>
                </a:solidFill>
              </a:rPr>
              <a:t>└  Geometry / Obstacles / Hazards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9A12E-7EB0-4D7B-A487-FB873176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479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36"/>
                </a:solidFill>
              </a:defRPr>
            </a:pPr>
            <a:r>
              <a:rPr sz="1275" b="0">
                <a:solidFill>
                  <a:srgbClr val="0B1736"/>
                </a:solidFill>
              </a:rPr>
              <a:t>└  PlayerSpawn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73FCC-1314-4E8A-AD0E-F0DA942E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36"/>
                </a:solidFill>
              </a:defRPr>
            </a:pPr>
            <a:r>
              <a:rPr sz="1275" b="0">
                <a:solidFill>
                  <a:srgbClr val="0B1736"/>
                </a:solidFill>
              </a:rPr>
              <a:t>└  EnemySpawnPoints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DFEC1-1E6F-46BB-9600-E4143CF2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36"/>
                </a:solidFill>
              </a:defRPr>
            </a:pPr>
            <a:r>
              <a:rPr sz="1275" b="0">
                <a:solidFill>
                  <a:srgbClr val="0B1736"/>
                </a:solidFill>
              </a:rPr>
              <a:t>└  CandidatePoints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639FE-D7E2-41A4-B88F-4335FC65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36"/>
                </a:solidFill>
              </a:defRPr>
            </a:pPr>
            <a:r>
              <a:rPr sz="1275" b="0">
                <a:solidFill>
                  <a:srgbClr val="0B1736"/>
                </a:solidFill>
              </a:rPr>
              <a:t>└  WaveTriggers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D187C-7394-4243-84E5-4E8FE80D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36"/>
                </a:solidFill>
              </a:defRPr>
            </a:pPr>
            <a:r>
              <a:rPr sz="1275" b="0">
                <a:solidFill>
                  <a:srgbClr val="0B1736"/>
                </a:solidFill>
              </a:rPr>
              <a:t>└  EntryGate / ExitGate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349F4-3BC7-46DF-AC57-27A9C52C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36"/>
                </a:solidFill>
              </a:defRPr>
            </a:pPr>
            <a:r>
              <a:rPr sz="1275" b="0">
                <a:solidFill>
                  <a:srgbClr val="0B1736"/>
                </a:solidFill>
              </a:rPr>
              <a:t>└  CameraBounds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DCB53-84ED-4B3F-B48C-080BEC70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36"/>
                </a:solidFill>
              </a:defRPr>
            </a:pPr>
            <a:r>
              <a:rPr sz="1275" b="0">
                <a:solidFill>
                  <a:srgbClr val="0B1736"/>
                </a:solidFill>
              </a:rPr>
              <a:t>└  NavRoot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DCF68-A8AC-4AE4-9410-443D79DD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736"/>
                </a:solidFill>
              </a:defRPr>
            </a:pPr>
            <a:r>
              <a:rPr sz="1275" b="0">
                <a:solidFill>
                  <a:srgbClr val="0B1736"/>
                </a:solidFill>
              </a:rPr>
              <a:t>└  DebugOverlay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5D45A-3EF6-4DE7-B0CC-8015AA9B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7B18"/>
                </a:solidFill>
              </a:defRPr>
            </a:pPr>
            <a:r>
              <a:rPr sz="1275" b="1">
                <a:solidFill>
                  <a:srgbClr val="E37B18"/>
                </a:solidFill>
              </a:rPr>
              <a:t>└  DesignerOverride  [PRESERVE]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49BEE-3C9F-4012-BAF8-3FD9BADB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5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A3954-93EA-4A87-8C96-35FE4FF1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BEFC9-6151-44BA-94E5-A36C8DCD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68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13C0F-80B3-48AB-A5F8-4059F7EE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46863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Import Game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D45DA-BCBA-4969-A4D8-2F6CB92B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495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E3188-E891-4E8E-ABBB-94C8AEFF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52D8EC-E188-471B-B012-AFE45E89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468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9982E1-8D07-4A3C-A50E-C0CA8631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46863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Validate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3B074B-F776-4FEF-9BA8-1EE594B5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95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17B8B-954B-46CF-B322-0BE9A67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D5A10-FA1D-40B9-8E7C-0007F661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468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48BBBD-CFC6-4B13-8DF0-A0D4A323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6863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Generate Placeholder Prefabs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F4C982-443C-4EAA-A7A0-811F2820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95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78AF99-68D1-430C-982F-8CD595B2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13D16A-66C3-4906-9E06-71E2481D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468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2CFB15-6E36-42BC-8EF7-B609F3AF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46863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Generate Room Prefabs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A727B2-F204-4D95-AC8B-B3484779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495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ED7ED5-E621-4ED5-AD4F-267EF650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EF385A-7AA3-4D8B-9C57-3CB1F6CE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468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DD3085-46AE-4663-AFDA-012ACE6C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46863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Bake Navigation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58CC69-E36E-429F-B6FC-9EE724DF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1B0633-04B9-4368-99D0-7C1AD446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AF5E9B-C851-4AE0-B2B4-7C4B7E6A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29200"/>
            <a:ext cx="468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BC7497-D3F2-45C3-864B-5DE890FA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14950"/>
            <a:ext cx="46863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Run Smoke Test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00E5CA-FED5-4F6D-A514-5F6AC068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57850"/>
            <a:ext cx="4953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1F9D5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542DBB-193F-427E-AA4D-E420AE5D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43575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9D55"/>
                </a:solidFill>
              </a:defRPr>
            </a:pPr>
            <a:r>
              <a:rPr sz="1200" b="1">
                <a:solidFill>
                  <a:srgbClr val="1F9D55"/>
                </a:solidFill>
              </a:rPr>
              <a:t>PLAY 전: Error 0 / Exit 연결 / Spawn Bounds PASS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B5D144-E5B6-4745-B281-5D7B551F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ROOM_LAYOUT_UNITY_DATA · PREFAB_REGISTRY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14667E-E0C8-44D8-A9B2-E1E4E6DA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34 Room 생성·Entry/Exit·Nav 검증 오류 0</a:t>
            </a:r>
          </a:p>
        </p:txBody>
      </p:sp>
    </p:spTree>
    <p:extLst>
      <p:ext uri="{BB962C8B-B14F-4D97-AF65-F5344CB8AC3E}">
        <p14:creationId xmlns:p14="http://schemas.microsoft.com/office/powerpoint/2010/main" val="881912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AE1859C-0CA3-4B2E-9D40-95B0C7E4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2A4BD-4C93-418A-AA5C-D6578736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05/17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C659C-1290-445D-9ECA-81FD53BB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CH1_N01이 첫 번째 실행 가능한 기준이다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8EC54-1813-4233-8651-1A1D9271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17단계를 순서대로 확인한다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CD19D-BAD5-43C0-9514-D762924C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DE146-79D9-4817-BCE4-EFF208BF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81F50-C905-454F-ADB3-7BDC7A1F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76C5D-6B1D-416A-AFE4-0D16F238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1F1FD-AF8C-40CE-B5AA-1BDD9EEF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7430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Room 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44AB5-8477-401A-B92F-AB84EC35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526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4232D-CAEC-4750-AB52-D1F14885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62175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FE662-AE44-4B9D-BF29-0E9B724E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62175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920B8-8B8E-4993-A5E7-6AEAF056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574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09482-B5EF-4C8F-9962-59E08C15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247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Player Spawn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9C9D7-9B10-4359-A2F0-3F713656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574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DEBAF-F060-4793-86CF-F9FC479C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DF432-26FE-48CA-8513-22783E0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0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6DA9F2-2324-48C1-90DF-9FBE01BC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62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C1E41-C16E-40A9-9865-55E78EE2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527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Host 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2662A-3044-4C72-A43B-EF36A27A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622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1CADC-1E7C-41F1-BB0C-1BD45F9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71825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70406-1B50-4398-A3B2-AFD4C0B5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71825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247FF-04EA-45F5-AEB3-38E73E0D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267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3093F-B574-419A-8EB4-E02CCB07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257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Enemy Spawn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110AE4-23D3-4FC3-82AD-ED85ED11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670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79C13-CDFC-422A-A1B9-A912BA8E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76650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B897DC-534F-4165-8687-FD9A7D09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76650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B82B86-CF14-420D-8A1C-DE58CB24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71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0C9CB6-2A03-45A9-9DAE-3AF9C7BB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762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Enemy Move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973418-0DC7-4DEB-8392-16EECC40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719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FD7C1E-DE95-43A2-8524-0D971E18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81475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FAFDE8-4623-4263-94CD-A63A07C7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81475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397428-1CD2-4F57-974C-A27B21B1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7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76DE3A-1398-4191-B19C-AFC5972C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6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Player Move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41D368-CF80-410F-B252-A07B6DA0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767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779D9D-A665-4D71-81B4-B8C997C6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9A714D-92D2-45AB-AC4D-3531AC5E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A8BF66-3710-4631-8E83-9F2AFAE1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81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6D34B5-2320-4BE7-A3D8-DC1CA316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772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Player Stop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87C621-B468-46F0-8FAB-76551447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815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318F75-C841-4B39-A395-761D8D91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BF6B39-06AF-4ABE-B577-074307A9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EE83DC-4F72-45CD-ABC2-0F5ABE0D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86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3E0027-204D-4B50-A53F-B1356D52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276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Auto Attack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6B9220-7F80-4A20-BDF0-7F2ECA7D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863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213A3B-B4AF-40A0-8AF8-92F1F997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95950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C9ECA6-DFE2-4A5D-A1C0-6040AF0D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95950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20B851-F9D2-4EC0-8D2B-DB42D26A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912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D6E76B-60EF-479A-B3A7-B0A98D1A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781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Projectile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8FE997-E84A-490F-9AB5-429F9E54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912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5823C6-C6F0-4391-9C9B-34D8FE14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C2BAEF-BBE6-400F-B105-5D69BAE8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571683-B089-419B-B672-DD3AE449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52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A9A0E8-594A-4929-961A-264B9B45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430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Damage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DBF16E-9026-46DB-8161-06CD9893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526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B5515B-1CE1-48C9-A512-5FCA3C33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62175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7A46E1-7CC4-484A-9976-2A9D81E5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62175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DDF326-2C31-45F1-85F9-BA4EDE1F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574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EDA0AD-FE11-4797-8A4F-0C73054D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47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Enemy Death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5B988F-09D9-4E8B-98B6-BC0C09A9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574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740399-DF97-4F14-90EC-AE6F28BC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D037A2-D739-409B-AF41-13723878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0B959D-31BA-4C2D-8F8B-0132ACF0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62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F1A84A-C57E-43A0-96DF-510EFA29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7527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EXP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5D279D-6806-45A0-B040-37F53E19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622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5EBB10-8750-4BCD-8C3A-7BDD319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71825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E3167B8-8D19-4F8A-B4ED-CA936D1D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71825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35158A9-BF37-40FC-B5F7-FD9C4A82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67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0AAE1E0-7268-4298-B3C8-6BDF470A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257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Possession Target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B643E0-08E1-43CD-9FA9-5C23FCCD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670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346EFF-FCFC-47B3-891F-511BB6DE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76650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0DA48E-5693-4F2C-8880-151F2E9F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76650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1769B8-8DD3-4DDC-975C-94D1CB74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71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C3CF2CB-5B23-4BF7-8329-D427347D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762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Host Change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7C8AA5-50B4-49B4-AAF8-9C028B18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719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3ADB3B4-882F-4311-8F07-B578F1F0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81475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338392D-D4EA-4B24-9101-107AE7F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81475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91626B0-B6F7-43DC-890E-80ABC1E6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76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38D70B6-701D-48BE-BA16-11387A28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267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Clear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AAA516E-1853-457B-B2D4-F008F87D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7672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A6DEEC7-05DA-4312-8C6B-C6BE7937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86300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5C8BA20-7C6D-4F31-A675-3938783A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86300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41A647B-0E06-4ACA-95BF-208E01AC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781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21E14D3-1E68-4153-A96F-185C6A51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72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Exit Open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E7200A7-A64F-437A-B450-59820233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7815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3A0C7FA-BC12-4853-B5C6-DC335CAA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91125"/>
            <a:ext cx="5429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6BB65B6-36CA-477B-A047-E2CBD707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91125"/>
            <a:ext cx="476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63F7BD5-2D19-493E-9404-7904A11D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286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5F9A028-EDC3-485D-8D86-0F14169B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76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Next Room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A34A03F-910E-4F5B-A8CE-D04AD65C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863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9D55"/>
                </a:solidFill>
              </a:defRPr>
            </a:pPr>
            <a:r>
              <a:rPr sz="1050" b="1">
                <a:solidFill>
                  <a:srgbClr val="1F9D55"/>
                </a:solidFill>
              </a:rPr>
              <a:t>□ PASS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766A25-D5EC-46B7-AC39-746184DE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SMOKE_TEST_PROTOCOL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741A9D7-A762-4713-AEBB-EE1ED27A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17단계 전부 PASS, 다음 Room 진입 성공</a:t>
            </a:r>
          </a:p>
        </p:txBody>
      </p:sp>
    </p:spTree>
    <p:extLst>
      <p:ext uri="{BB962C8B-B14F-4D97-AF65-F5344CB8AC3E}">
        <p14:creationId xmlns:p14="http://schemas.microsoft.com/office/powerpoint/2010/main" val="1069564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758D88-2BAC-4A33-8983-B9D6C765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5B1DC-9C79-4BFA-BFF7-6A98797F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06/17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BB95C-570E-49C1-A878-066CE7D4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Ghost와 Host는 서로 다른 상태 머신이다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54A41-C9FF-45F5-A8A4-BCFB528D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Tactical과 Death Possession을 별도 경로로 구현한다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C1E6C-FA9F-4CAF-9337-531FE598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AB281-7A13-4AA3-9B86-DDA5E4BF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514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D3CCB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3B818-823D-468F-8833-21404AFD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GHOST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54DD5-A57D-4ED9-9878-63A1AF73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F5B2C-FA8F-4FF1-92BF-EB905531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CCB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40907-8791-4907-B3FF-C972B9BF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860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Spawn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2497D-FFD7-420C-A923-88B8F386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90825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B396C-D4D5-406C-9531-ACCC3C53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90825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CCB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1F608-87AA-42F6-B41C-32EF3CA2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86075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Protection 1.0s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A8BEC-0FFB-4EF5-BC63-A8DD2C9D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71825"/>
            <a:ext cx="4495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Invulnerable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D344E-A77D-413C-ADFE-50A82583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4F17F-D2FC-495C-9DF8-1CFA7923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CCB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CF908-6B77-4606-863E-0EF709EF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8615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Target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E0DCC-A4B0-49DB-8000-A4CF8A33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AAFD4-CECD-419E-93F5-C9C62EA6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CCB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8D886-BD3A-475C-8EF9-4774C585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86225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Possession READY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1E3BF-0DE4-4DFA-8444-C1FEB1FD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91050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5F68B-4A06-4CC1-A7C5-DB0DE1A1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910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CCB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C835B-43B2-4D2A-A787-469CB5EC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863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Travel 0.35s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1217D-E7D9-474A-B7BB-D2EAC1B5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66875"/>
            <a:ext cx="5143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EA1A80-AF7A-4770-8788-E90F8B46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7145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HOST 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96FC7-75EC-4EA9-B345-3CA1DBF3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90750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0E2C43-DE42-4CA2-8B73-19A357F3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907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7DC160-1D5C-4567-8AC3-ABE3D302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860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Spawn 70% HP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EE9182-DE92-4400-BF1A-2CE1CC8B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90825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48D481-EE22-4DB0-8986-9223B809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90825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DC55A-9465-4444-9DA3-B723A597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86075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Move  [Attack OFF]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ABB8C8-5740-4ACA-B565-77FB4542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90900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B07FE7-C757-4640-82B9-8D8EB52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909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1327C2-469F-4BE8-B4AC-84D84D2D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48615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Stop → Auto Attack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65675B-F2FD-460B-88AE-7E512F9D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90975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DAFAC2-CC23-46D7-BF8E-B77C5557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90975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A96542-5355-4CA5-8EC9-A0823324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86225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Ultimate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C06074-D3E9-4C48-9FF5-C8DA68CA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91050"/>
            <a:ext cx="4762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FDA1C7-1912-408E-B29C-8D239C23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910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FCAFFF-6116-4218-9772-953525BA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6863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Tactical Switch / Death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E32C46-B0D7-42A8-A7B5-65A23D7F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72050"/>
            <a:ext cx="449580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Different end reason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2F7439-74DD-4930-B0CB-1B7A32F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90875"/>
            <a:ext cx="1238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EC560B-0A8D-4E47-B12D-BCD0B7E4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908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4BA23E-9F40-4737-A3B4-B10107A0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POSSESSION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6D95FF-0759-481C-834F-775C1759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7187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Target + Cost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B0D968-D6F7-424E-A606-AD195E2C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581025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8E129C-9B8D-4748-9135-7AD058B0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911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37B18"/>
                </a:solidFill>
              </a:defRPr>
            </a:pPr>
            <a:r>
              <a:rPr sz="1350" b="1">
                <a:solidFill>
                  <a:srgbClr val="E37B18"/>
                </a:solidFill>
              </a:rPr>
              <a:t>Host HP 0 → Death Cost 20 → Ghost     |     Alive → Cost/CD → Tactical Switch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59DC18-625E-4019-B9FC-8732F173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Core Combat v3.1 · GHOST/HOST Contract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293BF4-AF23-4793-9046-7C997F45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Killed와 Possessed EndReason이 분리</a:t>
            </a:r>
          </a:p>
        </p:txBody>
      </p:sp>
    </p:spTree>
    <p:extLst>
      <p:ext uri="{BB962C8B-B14F-4D97-AF65-F5344CB8AC3E}">
        <p14:creationId xmlns:p14="http://schemas.microsoft.com/office/powerpoint/2010/main" val="514623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35034C-94B9-40F5-9068-B50EC005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A7159-3A40-4FA3-9162-71FE0097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07/17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80D2D-6838-4BD0-8712-9D1FA7B6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빙의 조건은 문자열이 아니라 Typed Rule이다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C31B5-4217-4EB7-A02C-EB7F7530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Immediate / Conditional / Not Possessable을 동일 Contract로 처리한다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00DDE-2D7D-45F7-9441-6BF1359F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51C19-60FF-4AD0-9F92-90DF40A5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38300"/>
            <a:ext cx="36957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DD75A-1D6E-46BC-AC46-CC55E7CB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4782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3118F-CFF8-45F9-A945-F2270D36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9545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IMMEDIATE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D700F-68E7-4033-A559-E520BDFF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56CEE-5770-4FE3-80BA-8F109780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907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조건 없이 가능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181E9-4150-4A72-8208-026739AE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BD9FF-B0A5-4872-83B2-D0E72CAA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527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일반 Host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EAB02-AB97-4DA2-9CD9-E20EDAEF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8AE1B-AA51-4DB0-9652-56B71E42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146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Target Valid 검사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CB86E-2609-4D42-82C6-8F82939E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38300"/>
            <a:ext cx="36957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2D275-6057-4AAF-9520-1B312AF5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4782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37B1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367FF-B18E-4E40-A176-607C656D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9545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CONDITIONAL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7E371-0D2C-4ABA-9E3D-4D1B4A36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4385C-CC0A-4038-9E60-25684E74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LOCKED → PROGRESS → 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4C002-24B1-4913-99F4-F8CD5A35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527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E0D11-6BE0-40AE-BC5D-C587AABC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527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BackAttack OR Down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823A4-96FE-4F17-B19D-3B59943B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C99D02-80C4-4A31-9DB5-A936F6D6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146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Burn3 OR ArmorBreak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4D6AFD-C399-4F5C-865E-23460A8C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B211A-E895-4B58-9C6D-32DED028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ArmorBreak AND Burn3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7C8CD9-FA35-42D4-BBB5-2D813CD4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38300"/>
            <a:ext cx="36957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32FA8-8E2A-40FF-8DFC-351AFD1A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4782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D1E2D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F54D25-A593-4554-BBDC-BD1629E6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9545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NOT POSSESSABLE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705202-8887-43C9-9FC0-CA0904A5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6C83DF-8AA4-46A7-B53C-397F909D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Boss 100%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910EE2-8B56-4C28-B2ED-EC752145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A96B2B-B3AA-493F-B0CC-48F67339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527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대부분 Elite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857CC3-98EC-40F5-B13B-3AA030B1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8D1427-52E0-4A56-AD28-83738580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146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Trap / Summon / Event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52E121-639F-4226-A85D-D8F23587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38675"/>
            <a:ext cx="11430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A9351A-D5CE-40A1-923F-E41EF82E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86300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TACTICAL POSSESSION — BUILD VARIANT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7A40F7-3FD5-4803-9228-8FBAD80C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6A8B2E-132F-4E91-929E-D26A7406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A849F7-83A0-47D2-A0A8-2AE4BFE6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2387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888B96-3F81-443D-8D97-A127E2E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524500"/>
            <a:ext cx="2876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8 HP / 8s  ·  Compare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F8B46C-9E40-499C-A137-1ADBCBCD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4350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9D5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ABE1BD-44D6-444D-82D9-01186121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43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9525">
            <a:solidFill>
              <a:srgbClr val="1F9D5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293447-0792-4BAE-8420-D01A8B1F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2387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36D372-21E1-4DBF-A296-947B4C75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524500"/>
            <a:ext cx="2876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6 HP / 8s  ·  DEFAULT P0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27C5A5-0EFC-47E4-B067-5D3C0135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43500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6332E9-CE37-4E47-B999-FCC1E1EC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43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F7D18C-4D14-404F-B59A-24E26B75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2387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CA5232-DBC8-495E-9D97-D8A03B82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524500"/>
            <a:ext cx="2876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5 HP / 10s  ·  Compare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CF78F9-0012-4FB6-AFB3-322C5625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000750"/>
            <a:ext cx="923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공통: Host Alive · Cooldown Ready · Ghost HP &gt; Cost · Valid Target · Control Available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E3459C-3506-4673-BD7D-1C871D91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CONDITION_GROUP · POSSESSION_BALANCE_VARIANT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429568-5DBC-4EEC-8D75-9208232C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조건 진행·READY·종료 이유가 Debug HUD에 표시</a:t>
            </a:r>
          </a:p>
        </p:txBody>
      </p:sp>
    </p:spTree>
    <p:extLst>
      <p:ext uri="{BB962C8B-B14F-4D97-AF65-F5344CB8AC3E}">
        <p14:creationId xmlns:p14="http://schemas.microsoft.com/office/powerpoint/2010/main" val="1427424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C2A8D0-70ED-42BD-BEC5-3BA6E612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4D412-F117-4891-A7B2-44EB6CB3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08/17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12290-6323-487E-BEA9-95114FE3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Host마다 공격 템포가 달라야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F5E10-2866-481F-AA66-E006F866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역할뿐 아니라 입력 후 체감까지 분화한다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758CF-BE14-49E8-8D5A-CCBC617C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FA412-F0B4-4947-87E8-94274864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47825"/>
            <a:ext cx="11334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322A9-9493-4DFD-BFDC-66144D77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4D8"/>
                </a:solidFill>
              </a:defRPr>
            </a:pPr>
            <a:r>
              <a:rPr sz="1725" b="1">
                <a:solidFill>
                  <a:srgbClr val="2474D8"/>
                </a:solidFill>
              </a:rPr>
              <a:t>MOVE = ATTACK OFF     →     STOP     →     0.15s     →     AUTO ATTACK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B5419-F9BD-45EC-8798-555C174E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3476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A9C13-5FBF-4582-B7FC-07162117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FD5C2-E786-4789-B559-1E85DDA4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67000"/>
            <a:ext cx="3209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Gangster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9691C-D911-4985-B6D1-04D7585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3209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Mark Relay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Burst / Medium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289E4-EAA4-404C-BD6B-B05F741A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476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E8E7C-0BAD-4548-9C05-5FD169B4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8BC4C-E8F6-4C54-A43B-69E5A2CD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3209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Fighter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0815B-6968-4F72-9D2F-6BD52FE2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209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Combo Meter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Fast / Melee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AE1C8-0B88-4910-8D90-DD685808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476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850B6-7CD2-44A3-A2C1-677FAF72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B1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D5D85-C9AE-4A42-AE10-AA73894D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67000"/>
            <a:ext cx="3209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Salamander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B1518-95AB-40D1-A7C5-5DD15C24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52750"/>
            <a:ext cx="3209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Heat + Melt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Cone / Sustain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E37E2-1816-462B-BF18-14E82DCC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52875"/>
            <a:ext cx="3476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D6747-53CA-4792-86A5-9F7F3639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5287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381DA-5BE7-4D58-AD0E-19A0D344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48125"/>
            <a:ext cx="3209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Robot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9315EF-59FF-4270-BC82-DCCE558B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33875"/>
            <a:ext cx="3209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Deploy Network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Turret / Laser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80515-2243-42CE-AF17-2348DFB3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875"/>
            <a:ext cx="3476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D82DE0-06A9-4328-B5D2-90C264C8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87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CCB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26064F-7447-4035-819F-0A7EE36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48125"/>
            <a:ext cx="3209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Ninja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431EF8-C5C5-401B-B0C3-A70CAED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33875"/>
            <a:ext cx="3209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Execution Momentum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Blink / Burst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9869E2-2654-422D-8A87-4742D3DC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52875"/>
            <a:ext cx="34766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8C8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0F504B-C60C-4001-9CE9-8F28F0F6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52875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C89"/>
          </a:solidFill>
          <a:ln xmlns:a="http://schemas.openxmlformats.org/drawingml/2006/main" w="9525">
            <a:solidFill>
              <a:srgbClr val="078C8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B9A60C-9269-4FDB-BE4F-D2D309D3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3209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Wizard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2EA0A5-A58A-48DD-8565-1D297908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33875"/>
            <a:ext cx="3209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Field Control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Zone / Slow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60A64B-7C82-4B63-9620-CA4DC7DB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DIFFERENTIATE  Interval · Windup · Burst · Projectile Speed · Range · Target Rule · Move Speed · Area Shape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27289F-E74C-4856-837E-FC1C5B7A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ATTACK_PROFILE · HOST_MAINTAIN_HOOK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F3F033-E708-45BD-9B78-84C53DB8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12 Host Feel Signature 중복 0</a:t>
            </a:r>
          </a:p>
        </p:txBody>
      </p:sp>
    </p:spTree>
    <p:extLst>
      <p:ext uri="{BB962C8B-B14F-4D97-AF65-F5344CB8AC3E}">
        <p14:creationId xmlns:p14="http://schemas.microsoft.com/office/powerpoint/2010/main" val="17918221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BFD250-F4A9-4472-9278-FCDF39F3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5A940-293E-4259-83FC-327A8F19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09/17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2F05A-B4EB-4394-96BA-93417A7A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KEEP와 SWITCH가 동시에 합리적이어야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FB314-EC6D-453E-8136-9A422A9B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한쪽이 항상 정답이면 핵심 재미가 무너진다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29500-9599-4E73-B20F-6B24A69F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2D881-EF00-41C3-AD13-16956DC1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3810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037C4-C002-4D0C-807C-0F8DF63D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85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37B18"/>
                </a:solidFill>
              </a:defRPr>
            </a:pPr>
            <a:r>
              <a:rPr sz="1350" b="1">
                <a:solidFill>
                  <a:srgbClr val="E37B18"/>
                </a:solidFill>
              </a:rPr>
              <a:t>CURRENT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398C4-F156-4660-9ADF-16322438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Host HP 35%  ·  Ghost HP 30  ·  Ult 75%</a:t>
            </a:r>
          </a:p>
          <a:p xmlns:a="http://schemas.openxmlformats.org/drawingml/2006/main">
            <a:pPr algn="ctr">
              <a:defRPr sz="1275" b="1">
                <a:solidFill>
                  <a:srgbClr val="0B1736"/>
                </a:solidFill>
              </a:defRPr>
            </a:pPr>
            <a:r>
              <a:rPr sz="1275" b="1">
                <a:solidFill>
                  <a:srgbClr val="0B1736"/>
                </a:solidFill>
              </a:rPr>
              <a:t>Candidate READY  ·  Current Buff Compatible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91468-C5DA-4F91-8CE3-3F0FD97B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9DF84-F397-4BF4-85B4-0AB7FE2B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52775"/>
            <a:ext cx="4933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1C76A-F3B8-4352-A6F2-D6E3173B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KEEP — 현재 무기를 완성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55A6A-9A6F-45AB-BEA4-72F8F66B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4D8"/>
                </a:solidFill>
              </a:defRPr>
            </a:pPr>
            <a:r>
              <a:rPr sz="1425" b="1">
                <a:solidFill>
                  <a:srgbClr val="2474D8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22C8B-2622-4B39-8C61-AF2522F5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Ultimate 완성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0D235-65B8-4FD1-924C-18B4BCF0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4D8"/>
                </a:solidFill>
              </a:defRPr>
            </a:pPr>
            <a:r>
              <a:rPr sz="1425" b="1">
                <a:solidFill>
                  <a:srgbClr val="2474D8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20A17-1F5F-4DA5-985B-8F30A4E7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7670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Mark / Zone / Deploy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8BD5E-E6C5-4F36-A33F-E52D5859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4D8"/>
                </a:solidFill>
              </a:defRPr>
            </a:pPr>
            <a:r>
              <a:rPr sz="1425" b="1">
                <a:solidFill>
                  <a:srgbClr val="2474D8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A592A-EE5D-45EA-9E76-29D14749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386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Ghost HP 절약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FC6A2-D09F-4E74-9557-EF517B45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4D8"/>
                </a:solidFill>
              </a:defRPr>
            </a:pPr>
            <a:r>
              <a:rPr sz="1425" b="1">
                <a:solidFill>
                  <a:srgbClr val="2474D8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893C9-6269-4FD2-B97A-06325425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0060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현재 Build 호환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0285F-D355-43C4-90FD-307FF751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4D8"/>
                </a:solidFill>
              </a:defRPr>
            </a:pPr>
            <a:r>
              <a:rPr sz="1425" b="1">
                <a:solidFill>
                  <a:srgbClr val="2474D8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DF7BD-ADDE-40ED-A0B4-25717022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625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MaintainHook 누적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B5D80-CAD0-4957-A3D3-B7860454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43250"/>
            <a:ext cx="4953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6E53D-BAEC-4DBD-9F4C-6F6FBED0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4933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27CA92-1D12-4E8B-9586-0BD85634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SWITCH — 공격 방식을 바꿈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D4FE95-8C9C-4E1B-A84B-CFB3E2E0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147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A9C7"/>
                </a:solidFill>
              </a:defRPr>
            </a:pPr>
            <a:r>
              <a:rPr sz="1425" b="1">
                <a:solidFill>
                  <a:srgbClr val="05A9C7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80810A-CE0E-4068-A555-0CAD89C1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147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위험 탈출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B4445-5A45-468C-8321-1E6022A3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767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A9C7"/>
                </a:solidFill>
              </a:defRPr>
            </a:pPr>
            <a:r>
              <a:rPr sz="1425" b="1">
                <a:solidFill>
                  <a:srgbClr val="05A9C7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34081F-99BE-4836-BCAE-1B4CAA9C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7670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새 Range / Area / Target 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1FE5E7-25E5-4C4E-9F27-35DE3A43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386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A9C7"/>
                </a:solidFill>
              </a:defRPr>
            </a:pPr>
            <a:r>
              <a:rPr sz="1425" b="1">
                <a:solidFill>
                  <a:srgbClr val="05A9C7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6190A-E2EE-4F32-B87A-1A5A1117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386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Inactive Buff 활성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D3DBE-3434-4CE5-872E-E72EF158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A9C7"/>
                </a:solidFill>
              </a:defRPr>
            </a:pPr>
            <a:r>
              <a:rPr sz="1425" b="1">
                <a:solidFill>
                  <a:srgbClr val="05A9C7"/>
                </a:solidFill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07046F-3391-454B-861D-2D5EA8AC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0060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Directed Synergy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C93479-D654-4D19-96E4-D072A7FB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625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A9C7"/>
                </a:solidFill>
              </a:defRPr>
            </a:pPr>
            <a:r>
              <a:rPr sz="1425" b="1">
                <a:solidFill>
                  <a:srgbClr val="05A9C7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CE6ED2-39B0-4B12-8F3D-1AE93ADE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162550"/>
            <a:ext cx="395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Boss Phase 대응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7DC319-8E5A-4E72-B8DC-47CD6132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05500"/>
            <a:ext cx="7143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837D59-66D2-4D0B-92A4-EFD715F7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991225"/>
            <a:ext cx="6762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44A4A"/>
                </a:solidFill>
              </a:defRPr>
            </a:pPr>
            <a:r>
              <a:rPr sz="1275" b="1">
                <a:solidFill>
                  <a:srgbClr val="E44A4A"/>
                </a:solidFill>
              </a:rPr>
              <a:t>정답이 하나면 FAIL. 두 선택의 기대값이 상황에 따라 교차해야 PASS.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635669-D97E-45B7-BC94-FC2F333A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MaintainHook · Synergy Runtime · Balance Variant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31016A-82F9-41DE-AF05-C411D461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동일 상황에서 두 선택 모두 생존·공격 근거 보유</a:t>
            </a:r>
          </a:p>
        </p:txBody>
      </p:sp>
    </p:spTree>
    <p:extLst>
      <p:ext uri="{BB962C8B-B14F-4D97-AF65-F5344CB8AC3E}">
        <p14:creationId xmlns:p14="http://schemas.microsoft.com/office/powerpoint/2010/main" val="1096817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91C93D-6217-4984-8902-76DBB812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BA7CE-4963-4957-BB3D-8B7EA67A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10/17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A875F-0178-49EF-9C49-EBAF40E3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Synergy는 숫자가 아니라 행동을 바꾼다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04959-A8D4-43AB-A999-36CC0E0A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Host 순서가 공격 패턴을 변환하도록 구현한다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4D147-863F-416A-AD3B-4D06AF9B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B5F19-0DD2-4733-A8F7-24D3AC5C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2857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4A35A"/>
          </a:solidFill>
          <a:ln xmlns:a="http://schemas.openxmlformats.org/drawingml/2006/main" w="9525">
            <a:solidFill>
              <a:srgbClr val="24A3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AA782-8D2A-4446-AEC2-01513D4A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145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BUFF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0D97A-9C6B-45AC-BEDF-545A581C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247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A3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5006C-2CE8-4DAC-A0BE-160E2145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5A"/>
          </a:solidFill>
          <a:ln xmlns:a="http://schemas.openxmlformats.org/drawingml/2006/main" w="9525">
            <a:solidFill>
              <a:srgbClr val="24A3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8F311-30E4-4D59-A4A3-A66E9A71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860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STORED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5D4B5-7E50-4C0A-9715-E2DB5B6C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71750"/>
            <a:ext cx="2209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Re-evaluate on switch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979A0-D8F7-4DFF-BA58-C1CBD20E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247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A3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7BECC-7317-49B7-B59E-55EA5200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5A"/>
          </a:solidFill>
          <a:ln xmlns:a="http://schemas.openxmlformats.org/drawingml/2006/main" w="9525">
            <a:solidFill>
              <a:srgbClr val="24A3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4D800-1C98-4861-A1A4-35A40E3C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289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INACTIVE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0FDB5-2F6A-4F93-97E4-90AB578B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2209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Host Tag mismatch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3D68CD-E7F5-497C-9E57-89AE1D89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2476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A3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DEF50-B99C-4F49-8727-8FF8C1AB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5A"/>
          </a:solidFill>
          <a:ln xmlns:a="http://schemas.openxmlformats.org/drawingml/2006/main" w="9525">
            <a:solidFill>
              <a:srgbClr val="24A3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EFCBF-C306-41F2-9ED3-2C10B6E0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719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ACTIVE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0692F-6834-4076-98B0-96A4217B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57650"/>
            <a:ext cx="2209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Re-evaluate on switch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C9671-B296-41D6-B6FE-18002D1E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B55E7-FC20-4F95-B9C8-25E24BFD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86050"/>
            <a:ext cx="2381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62DC5-BAE7-4AE4-ACBD-EF9D9C3B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86050"/>
            <a:ext cx="76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3A752-85D0-45B0-8286-6C874A13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HOST TAG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74340-BF92-4823-A672-04C38E84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Buff Re-evaluate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66D2F-4987-47F0-9E79-495D2BB7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718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DDA74B-2F75-4BCD-986B-41E0E6E6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66875"/>
            <a:ext cx="4667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78C89"/>
          </a:solidFill>
          <a:ln xmlns:a="http://schemas.openxmlformats.org/drawingml/2006/main" w="9525">
            <a:solidFill>
              <a:srgbClr val="078C8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2811EC-7F6A-442C-8D55-F193E8F7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7145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BEHAVIOR TRANSFORM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D4AA4-F38A-4DF8-B978-F4195A9C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38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Gangster Mark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1A7300-74F2-45CA-9B4D-BFD4BBEC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CF7962-6D7A-4B06-8245-45DBF8F9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C89"/>
                </a:solidFill>
              </a:defRPr>
            </a:pPr>
            <a:r>
              <a:rPr sz="1200" b="1">
                <a:solidFill>
                  <a:srgbClr val="078C89"/>
                </a:solidFill>
              </a:rPr>
              <a:t>Ninja Blink Execution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8678AA-066E-4909-A8F6-A5BDDF3B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241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Robot Deploy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E7672C-01C9-4E6D-92DB-0FFDA290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EB4FAC-BEE7-4242-9BA0-4191B660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241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C89"/>
                </a:solidFill>
              </a:defRPr>
            </a:pPr>
            <a:r>
              <a:rPr sz="1200" b="1">
                <a:solidFill>
                  <a:srgbClr val="078C89"/>
                </a:solidFill>
              </a:rPr>
              <a:t>Salamander Fire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7D23ED-6B21-45AF-A904-BBAAEA9A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99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Medium Curse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689858-D6B0-462E-B5BF-7E0EBF2D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5608FE-731F-4040-A05F-DB65A8A4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099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C89"/>
                </a:solidFill>
              </a:defRPr>
            </a:pPr>
            <a:r>
              <a:rPr sz="1200" b="1">
                <a:solidFill>
                  <a:srgbClr val="078C89"/>
                </a:solidFill>
              </a:rPr>
              <a:t>Wizard Fire Pillar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FFE941-DF1F-40C4-A764-1CDD0EC3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957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Guru Guard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7E1E4E-1EAE-4102-9EF5-17E84FBA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00DE6B-745D-444F-8637-9C1BEC5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95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8C89"/>
                </a:solidFill>
              </a:defRPr>
            </a:pPr>
            <a:r>
              <a:rPr sz="1200" b="1">
                <a:solidFill>
                  <a:srgbClr val="078C89"/>
                </a:solidFill>
              </a:rPr>
              <a:t>Fighter Armored Dash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041818-20FB-4741-B3F5-7BC246F5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1009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727A47-8DDE-41BC-AFB7-9C36682A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673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37B18"/>
                </a:solidFill>
              </a:defRPr>
            </a:pPr>
            <a:r>
              <a:rPr sz="1425" b="1">
                <a:solidFill>
                  <a:srgbClr val="E37B18"/>
                </a:solidFill>
              </a:rPr>
              <a:t>CH1_N07 S01: Gangster Mark → Ninja Blink Execution은 Buff 없이 ALWAYS BASE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8D92AD-B97B-4864-9A55-915EC14E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B1736"/>
                </a:solidFill>
              </a:defRPr>
            </a:pPr>
            <a:r>
              <a:rPr sz="1125" b="0">
                <a:solidFill>
                  <a:srgbClr val="0B1736"/>
                </a:solidFill>
              </a:rPr>
              <a:t>BUF_T01은 Relay +1 · Radius +25% · Mark 1.5s 유지 · Chain +1만 강화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DFBF44-1EC0-4FEF-B15A-5DCD7E84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SYNERGY_RUNTIME · BUFF_UNLOCK_POLICY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363F67-07FC-4B4C-A6DF-7E81DE33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8개 Signature Synergy가 화면에서 식별 가능</a:t>
            </a:r>
          </a:p>
        </p:txBody>
      </p:sp>
    </p:spTree>
    <p:extLst>
      <p:ext uri="{BB962C8B-B14F-4D97-AF65-F5344CB8AC3E}">
        <p14:creationId xmlns:p14="http://schemas.microsoft.com/office/powerpoint/2010/main" val="17237102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264E74-5DB3-4204-A516-DAF7E2E5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E9349-A5E5-4702-BFA9-D50B1827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11/17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4A8C6-CBFC-4AB6-A786-F6492ECC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Room이 KEEP/SWITCH 판단을 만든다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BA2C0-01B5-4B1D-AF91-BCBC7369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CH1_N07 실제 좌표로 첫 Directed Synergy를 검증한다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CF8AA-9AD2-4B7E-A2BC-E9F8A656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D3021-BC68-485D-8C15-A99B2F33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9530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44869-D7F5-4941-897A-48D0A2EF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58B"/>
                </a:solidFill>
              </a:defRPr>
            </a:pPr>
            <a:r>
              <a:rPr sz="1275" b="1">
                <a:solidFill>
                  <a:srgbClr val="65758B"/>
                </a:solidFill>
              </a:rPr>
              <a:t>CH1_N07  SPLIT ARENA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30AE3-5CB7-4C5C-853F-C1172378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848" y="4139973"/>
            <a:ext cx="153080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5DCE5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60785-4255-4C03-ADA2-11051DA5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339" y="3309257"/>
            <a:ext cx="1071563" cy="16362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CE5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82E88-E53D-44A8-A72E-95C5CEF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545" y="3309257"/>
            <a:ext cx="1071563" cy="16362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CE5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813C3-8791-4C9A-BBFB-9361DE39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32602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C62A6-CD72-4C01-80E9-593F970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70702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74D8"/>
                </a:solidFill>
              </a:defRPr>
            </a:pPr>
            <a:r>
              <a:rPr sz="825" b="1">
                <a:solidFill>
                  <a:srgbClr val="2474D8"/>
                </a:solidFill>
              </a:rPr>
              <a:t>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29C81-06D0-4564-8E91-3D0E9CE7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752" y="3607254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AA008-A6CA-4A06-8A1F-80A3FC97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877" y="3635829"/>
            <a:ext cx="571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A9C7"/>
                </a:solidFill>
              </a:defRPr>
            </a:pPr>
            <a:r>
              <a:rPr sz="750" b="1">
                <a:solidFill>
                  <a:srgbClr val="05A9C7"/>
                </a:solidFill>
              </a:rPr>
              <a:t>NINJA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B57B0-BF6D-4E5B-9CD9-22F177C7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198" y="3607254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C6468-C018-4BB7-8532-8B485B2E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323" y="3635829"/>
            <a:ext cx="571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4A4A"/>
                </a:solidFill>
              </a:defRPr>
            </a:pPr>
            <a:r>
              <a:rPr sz="750" b="1">
                <a:solidFill>
                  <a:srgbClr val="E44A4A"/>
                </a:solidFill>
              </a:rPr>
              <a:t>E001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ABC17-A389-451F-A24B-BDD6BAE1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832" y="26003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B7314-571C-4A45-9ECF-0833CAD1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957" y="2628900"/>
            <a:ext cx="571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4A4A"/>
                </a:solidFill>
              </a:defRPr>
            </a:pPr>
            <a:r>
              <a:rPr sz="750" b="1">
                <a:solidFill>
                  <a:srgbClr val="E44A4A"/>
                </a:solidFill>
              </a:rPr>
              <a:t>E001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FBA3F-1B47-4671-B79C-6806AE9B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118" y="26003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2DBEC-0086-470B-9979-6514A6DE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243" y="2628900"/>
            <a:ext cx="571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4A4A"/>
                </a:solidFill>
              </a:defRPr>
            </a:pPr>
            <a:r>
              <a:rPr sz="750" b="1">
                <a:solidFill>
                  <a:srgbClr val="E44A4A"/>
                </a:solidFill>
              </a:rPr>
              <a:t>E002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BDB082-65FF-46AF-8D49-601904F9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180" y="3078616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6CEA4-CA95-4F93-AEE7-2846090E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305" y="3107191"/>
            <a:ext cx="571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4A4A"/>
                </a:solidFill>
              </a:defRPr>
            </a:pPr>
            <a:r>
              <a:rPr sz="750" b="1">
                <a:solidFill>
                  <a:srgbClr val="E44A4A"/>
                </a:solidFill>
              </a:rPr>
              <a:t>E002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EEC0F-9AB4-4719-973E-AFA9E762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9916"/>
            <a:ext cx="571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9D55"/>
          </a:solidFill>
          <a:ln xmlns:a="http://schemas.openxmlformats.org/drawingml/2006/main" w="9525">
            <a:solidFill>
              <a:srgbClr val="1F9D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8034F-2930-4BB4-B416-ACD67177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59416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9D55"/>
                </a:solidFill>
              </a:defRPr>
            </a:pPr>
            <a:r>
              <a:rPr sz="825" b="1">
                <a:solidFill>
                  <a:srgbClr val="1F9D55"/>
                </a:solidFill>
              </a:rPr>
              <a:t>EXIT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E8AD3-45CE-46FA-A35E-E65D279D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14500"/>
            <a:ext cx="5429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45C2C0-F739-4CB5-A12B-9A9CBBEB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24025"/>
            <a:ext cx="5410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B47BF-7F42-44E1-82FB-C09D1DA9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READABILITY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84A967-E0F9-465F-B092-C1747A33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758B"/>
                </a:solidFill>
              </a:defRPr>
            </a:pPr>
            <a:r>
              <a:rPr sz="1425" b="1">
                <a:solidFill>
                  <a:srgbClr val="65758B"/>
                </a:solidFill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D239D2-268D-4228-A2A5-0F791696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7170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첫 공격 반응 가능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569F19-75ED-4E28-AB3D-E1AD5A28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98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758B"/>
                </a:solidFill>
              </a:defRPr>
            </a:pPr>
            <a:r>
              <a:rPr sz="1425" b="1">
                <a:solidFill>
                  <a:srgbClr val="65758B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6AAC0C-5276-4B09-B79A-C5434D47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0982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화면 밖 피격 없음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B0C062-3352-47CB-A17A-786510D2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5758B"/>
                </a:solidFill>
              </a:defRPr>
            </a:pPr>
            <a:r>
              <a:rPr sz="1425" b="1">
                <a:solidFill>
                  <a:srgbClr val="65758B"/>
                </a:solidFill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5607F9-B67F-4125-9B94-F397C9F1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4795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Candidate 가시성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D245-E3E7-4F13-850F-527EA5A0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95625"/>
            <a:ext cx="5429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C4D755-E5EE-42FF-95C6-6274C54F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5410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37B1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E80BF6-062C-4085-AC41-21EA0810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44A5FA-A05B-4477-BDEF-9112C6E7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528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37B18"/>
                </a:solidFill>
              </a:defRPr>
            </a:pPr>
            <a:r>
              <a:rPr sz="1425" b="1">
                <a:solidFill>
                  <a:srgbClr val="E37B18"/>
                </a:solidFill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3DD84F-539C-4EE5-AAD6-A7ADC8A9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5282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Maintain clear route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60B531-A328-455C-91F9-3205EE68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37B18"/>
                </a:solidFill>
              </a:defRPr>
            </a:pPr>
            <a:r>
              <a:rPr sz="1425" b="1">
                <a:solidFill>
                  <a:srgbClr val="E37B18"/>
                </a:solidFill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EF99A5-AD1E-4F8F-B501-D18BDCD4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9095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Switch route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755DFC-F1B7-4799-B931-4E61916B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290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37B18"/>
                </a:solidFill>
              </a:defRPr>
            </a:pPr>
            <a:r>
              <a:rPr sz="1425" b="1">
                <a:solidFill>
                  <a:srgbClr val="E37B18"/>
                </a:solidFill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16E218-0C3F-46DA-B27E-8ECE5BBC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2907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Commitment Window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2860C3-6C47-427E-A227-04741BAD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76750"/>
            <a:ext cx="5429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B5F4A7-3092-47F3-BAA1-85122958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86275"/>
            <a:ext cx="5410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F9D55"/>
          </a:solidFill>
          <a:ln xmlns:a="http://schemas.openxmlformats.org/drawingml/2006/main" w="9525">
            <a:solidFill>
              <a:srgbClr val="1F9D5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C976CC-4A70-4BFE-B423-346878C5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FAIRNESS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113309-8FD7-4301-A65B-F6AC46A6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339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F695D8-25FF-40E6-9DB5-08885A9D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3395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Safe Pocket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810CCE-CEE5-479E-B90E-48A46C0D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720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C5E6B4-63EA-4606-81A6-5B99B0A5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17207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추천 Host 비강제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0FA5BA-0745-420E-92A4-30B8515E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AFD62E-92F6-4012-9073-24257ADF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410200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Exit / Bounds 정상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821CF7-54CD-4200-9605-03A54580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ROOM_LAYOUT_UNITY_DATA · CH1_N07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ECE90B-14A0-49E4-BC65-D72D4533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추천 Host 없이 Clear 가능 + Switch Payoff 식별</a:t>
            </a:r>
          </a:p>
        </p:txBody>
      </p:sp>
    </p:spTree>
    <p:extLst>
      <p:ext uri="{BB962C8B-B14F-4D97-AF65-F5344CB8AC3E}">
        <p14:creationId xmlns:p14="http://schemas.microsoft.com/office/powerpoint/2010/main" val="17707701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A9C4BE-4C52-4870-8683-D1179203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340CE-0154-47E7-91CE-D61D81ED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12/17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429C5-2119-4909-BB09-47D81E69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Boss Phase는 새로운 행동을 보여줘야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C9D16-ED11-49F3-ADAD-31B473A3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수치 상승이 아니라 Pattern·Arena·Candidate가 바뀐다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2C72B-31C6-49BC-8660-0BCD117A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A5E21-251B-433A-A6DE-8BF64DFB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0"/>
            <a:ext cx="11430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16392-9E2D-454C-BBCF-0DA36C47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D1E2D"/>
                </a:solidFill>
              </a:defRPr>
            </a:pPr>
            <a:r>
              <a:rPr sz="1500" b="1">
                <a:solidFill>
                  <a:srgbClr val="8D1E2D"/>
                </a:solidFill>
              </a:rPr>
              <a:t>BOSS = NOT POSSESSABLE     ·     목표 Tactical Switch: Boss당 약 1~2회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66EDF-2927-43BD-9ADA-F710AE26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347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73B40-331E-439B-8251-10CC5D87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9525">
            <a:solidFill>
              <a:srgbClr val="657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14627-F530-4D92-BCBB-76B00B88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3209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P1  LEARN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B6808-2B22-49C0-A704-9E120788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05125"/>
            <a:ext cx="3209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Burrow → Single Laser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한 Lane을 읽는다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Candidate: NONE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3E246-3153-45A1-B2F3-05B30146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9813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CC03A-81B2-4CD8-9079-097949B5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24125"/>
            <a:ext cx="347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7A46B-B7E1-4AA3-AE80-F78DA47F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241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B1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3D77B0-5E66-466C-A328-68D64D57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19375"/>
            <a:ext cx="3209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P2 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70A72-D561-496D-827F-75994A3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05125"/>
            <a:ext cx="3209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Dual Split → Alternating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Minion Host Window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Candidate: 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88FE0-D57D-44B8-AA1B-D799FD61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813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F7800-84E6-4080-8F13-F1B374B2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3476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A2581-DA65-4BDA-8433-EA4438F8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1E2D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7D6FD-F9D3-4CD9-B1AD-BE9C7E52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19375"/>
            <a:ext cx="3209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736"/>
                </a:solidFill>
              </a:defRPr>
            </a:pPr>
            <a:r>
              <a:rPr sz="1200" b="1">
                <a:solidFill>
                  <a:srgbClr val="0B1736"/>
                </a:solidFill>
              </a:rPr>
              <a:t>P3  PAYOFF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45DC7-385F-4641-8344-4CBAC7AD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05125"/>
            <a:ext cx="3209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Cross → Residual Grid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Safe Space 축소</a:t>
            </a:r>
          </a:p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Candidate: NONE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CF03F4-65D1-4CBA-9E66-60E85381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91000"/>
            <a:ext cx="3695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26E56A-2C95-4722-A278-E22900F1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0052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D1E2D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1EB67-9960-4120-A91D-7DA08AC2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4815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E671D-E1DC-48D6-A1DC-FD25E735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2C6FF5-B6A9-4557-9881-E61F765A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434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Attack Pattern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1FA07E-EAD9-4C64-838D-76CFDFAB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AF7AD-7CAA-4AB9-B4E8-88A18B8F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054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Arena / 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088EA2-F386-4686-819A-CA33FA60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52CC67-A722-4C59-ADB3-C0462F4E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673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Telegraph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49B820-5032-4D02-A014-155FAD22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91000"/>
            <a:ext cx="3695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28327C-B1F3-46BD-AF1F-0BE7FA97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0052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37B1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B96179-950C-4A9D-AE3B-36EFE77D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24815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CHOICE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EE9E8A-2A31-4EAF-8C17-382EF805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434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52E35E-32CC-42E8-A023-E9E53F92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434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Minion Pool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01F3EE-1D89-4C35-AAC1-72DC3F31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054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F62B1A-96D6-4969-857F-D1C125A8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054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Switch Window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1F4399-F1ED-44B0-AE1D-C4C23C19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673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369306-B907-4E4A-B406-C3B7C0F0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4673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Keep 가능성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672178-E1C6-4BFD-9D55-E669F85D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91000"/>
            <a:ext cx="36957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0BA5AD-B6A3-46BE-B019-B8B5B3A2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20052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DB0580-A725-487B-9268-6BCFA3FE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4815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BBEB00-6B4B-4D07-BF7D-FEF52EF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434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DDA8E5-7287-4B25-870C-B3E0ADCB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434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같은 패턴 반복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79CB7F-8F63-4641-9712-CC09B878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054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460955-5F10-419D-B6C7-6DAF78D1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1054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HP/Damage만 증가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314554-AC48-45C8-B02A-194872D5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A2B737-4455-44A7-805C-E1FFD4BA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4673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강제 Switch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4AFBD4-2966-4B6E-87BF-25D42C25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BOSS_PHASE_RUNTIME v1.5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86A11E-1B19-4781-8F33-D95DBFAD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각 Boss 3개 Phase 행동 Signature 중복 0</a:t>
            </a:r>
          </a:p>
        </p:txBody>
      </p:sp>
    </p:spTree>
    <p:extLst>
      <p:ext uri="{BB962C8B-B14F-4D97-AF65-F5344CB8AC3E}">
        <p14:creationId xmlns:p14="http://schemas.microsoft.com/office/powerpoint/2010/main" val="21452502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12577B-48FB-4928-AFB6-B6A3623E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31E01-7D9D-4522-B940-ADD0E53E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13/17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ADFC3-B34A-4D93-AE2A-C7E78997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성장은 다음 플레이의 선택지를 남겨야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F4074-7C26-4B04-B88C-2812B026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CH1→CH3에서 전투·성장·재도전을 연결한다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F3105-8C75-42BA-A39B-483ACEF9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49163-9061-4FE9-8739-2C3A74CA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1666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56430-588C-4B9F-BF3B-E09AED7C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1E2D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F12F3-EF63-4A9A-8C58-DA2277A4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0250"/>
            <a:ext cx="1400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CH1 B01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A4BC0-0D61-465B-B06E-929D80D1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1400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CLEAR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48B56-8CA5-4D03-B222-8B11056B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1526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2DC6A-D5EF-4B4A-BB55-707CD41D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905000"/>
            <a:ext cx="1666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A3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41E6C-B28B-4C7A-84CF-D8DE9AC1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5A"/>
          </a:solidFill>
          <a:ln xmlns:a="http://schemas.openxmlformats.org/drawingml/2006/main" w="9525">
            <a:solidFill>
              <a:srgbClr val="24A3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A4E4B-86E0-4279-BEC3-411D45E3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00250"/>
            <a:ext cx="1400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REWARD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BC5D7-8569-4195-840C-8DEEF83E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286000"/>
            <a:ext cx="1400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Gold +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3BA2F-1D77-4EEB-AF8B-053F6F5C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526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00B45-3194-44E8-93E7-A54F1EFB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05000"/>
            <a:ext cx="1666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D9A86-72DB-41D9-9202-F83A140C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CCB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C2BD6-D521-4447-8410-388A403C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00250"/>
            <a:ext cx="1400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GHOST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290D8-22A5-4F9E-8179-FDADC5EF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86000"/>
            <a:ext cx="1400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Upgrade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C34E0-2FD6-40AD-A9BF-60517D0A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526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006A31-CB98-452E-90A5-4C18144C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05000"/>
            <a:ext cx="1666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FD67D-E61E-4834-9E8A-A2A02ED3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1E2D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A2DED4-C864-4F6D-80A6-13C79B15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00250"/>
            <a:ext cx="1400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CH2 B02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CFC613-15EE-4447-AA54-2D45AD82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86000"/>
            <a:ext cx="1400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CLEAR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5390F-7697-46A5-BC39-44A9AE0F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526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E7758-638F-4392-80CD-EBFAD96C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05000"/>
            <a:ext cx="1666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E92E22-7B6D-4736-B8C8-238CEA9E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E300E-1C50-4288-9543-87DE316D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00250"/>
            <a:ext cx="1400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MEMORY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168EE6-B17C-458C-950A-F0D9CD72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86000"/>
            <a:ext cx="1400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Host Growth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C744DF-2863-4733-85FB-69558002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1526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5758B"/>
                </a:solidFill>
              </a:defRPr>
            </a:pPr>
            <a:r>
              <a:rPr sz="2025" b="1">
                <a:solidFill>
                  <a:srgbClr val="65758B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9FC5F-D613-40D1-9797-9479A3A2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905000"/>
            <a:ext cx="1666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E85E84-1109-4D60-B433-C03C5BF5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905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1E2D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E8D460-D789-4221-A039-A05EFC66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000250"/>
            <a:ext cx="1400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736"/>
                </a:solidFill>
              </a:defRPr>
            </a:pPr>
            <a:r>
              <a:rPr sz="1500" b="1">
                <a:solidFill>
                  <a:srgbClr val="0B1736"/>
                </a:solidFill>
              </a:rPr>
              <a:t>CH3 B03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CDEFE5-C0E2-4530-8BEB-239DC272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286000"/>
            <a:ext cx="1400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7A"/>
                </a:solidFill>
              </a:defRPr>
            </a:pPr>
            <a:r>
              <a:rPr sz="1050" b="0">
                <a:solidFill>
                  <a:srgbClr val="53627A"/>
                </a:solidFill>
              </a:rPr>
              <a:t>MASTERY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E9EE38-9251-40FB-B4EE-269E4E15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3695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3819AD-CDE1-4E59-B199-D0B51B7D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95650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37B1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235519-5D00-469A-9493-48F7CA7D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43275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6B4024-C5DA-4F8A-8248-75659C81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AF4C8C-763A-4232-B5FF-E11156E4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3857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공통 성장 비용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978722-B9AC-4EEB-AF16-1A1C1BA6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005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240E64-2313-4174-B2D4-3AC3054C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0052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선택 압박 유지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9F8E55-32A1-444E-812D-18A7F524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624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B3AF3D-A59C-424F-B360-9EDDC2D5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6247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전부 구매 금지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450639-027E-4F74-9CD2-107F24F1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86125"/>
            <a:ext cx="3695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8C8FDB-0A86-4BC8-922F-2CE89D93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295650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D3CCB"/>
          </a:solidFill>
          <a:ln xmlns:a="http://schemas.openxmlformats.org/drawingml/2006/main" w="9525">
            <a:solidFill>
              <a:srgbClr val="6D3CC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13A425-8531-48AC-8713-FFA23C85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43275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SPIRIT CORE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EC88BB-C497-4EA3-AF83-FE8A50B4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385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42BB2B-E29D-4CA6-9F2E-A0860CF4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3857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Ghost Upgrade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00E5E6-AD68-4C25-861D-73839616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44AA7F-2CE8-49FB-8A1B-39D222F1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0052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생존/전환 기반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8F12C3-00EB-434A-8DEB-B4BCA840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1C353F-5978-4A36-AD99-F4BFBA1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6247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Chapter Reward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2498F0-FD1C-49D1-8E8C-DB6AF289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86125"/>
            <a:ext cx="3695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FED1F5-65A4-4352-BA54-E03F0A3F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95650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C073C2-84B6-4454-9AC1-50EE497F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43275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HOST MEMORY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1D5E38-C85D-498C-B65D-E64C7E5E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385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51AB69-9178-4F7D-A1F2-68A08BF2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3857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Host Growth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8DFD69-F674-4A4D-A0C0-4A1996BE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F33450-D2EE-4DFA-805E-12F71F74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0052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플레이 스타일 강화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5C9A2B-24B2-423B-A093-72C7965E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D46CBF1-D631-4AD5-BB75-3EAD9769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6247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CH2 이후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535162-FF46-4C33-B167-FF872D6F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53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3627A"/>
                </a:solidFill>
              </a:defRPr>
            </a:pPr>
            <a:r>
              <a:rPr sz="1200" b="1">
                <a:solidFill>
                  <a:srgbClr val="53627A"/>
                </a:solidFill>
              </a:rPr>
              <a:t>Gem은 서비스/BM 계층에서 별도 관리 — Core Combat 수치와 직접 혼합하지 않는다.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0C1634-2F6C-4B0B-A807-79421FE7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REWARD/GROWTH Runtime · CHAPTER_ROUTE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E19B4F9-0D8F-4F5D-9C46-28CDC49E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CH1~3 사이 성장 행동 2~4회, 전부 구매 불가</a:t>
            </a:r>
          </a:p>
        </p:txBody>
      </p:sp>
    </p:spTree>
    <p:extLst>
      <p:ext uri="{BB962C8B-B14F-4D97-AF65-F5344CB8AC3E}">
        <p14:creationId xmlns:p14="http://schemas.microsoft.com/office/powerpoint/2010/main" val="1787994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F75249-1F7A-4E75-BA83-4435CFB0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3EF6B-1FB9-43C7-A5A4-A621E6DB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14/17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D8312-8EB1-411A-B749-3B4DCB3E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실측 전에는 재미를 PASS로 판정하지 않는다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6164A-1209-4313-9F04-B6D497B0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Debug HUD와 KPI로 P0→P1 판단을 기록한다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4DB13-6A32-4E65-884A-CB02116F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5DC4C-F0A0-45D5-8609-452C2BE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0"/>
            <a:ext cx="36957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2D05D-50C4-4171-9535-2F019CB2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2877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99A0D-7736-4E5B-A73C-57DE65D9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7640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DEBUG HUD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3906B-2781-4152-A6BA-CE2C041D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7B9A3-F29C-43AA-BFC9-4E58DC71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717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RoomID / Wave / Timer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5970E-7B2C-4559-9581-50C4DCFA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D52E4-BBD5-43B8-84E5-017A19EC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336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Host HP / Ghost HP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7A6DF-7BC3-468E-BC8C-B4256B1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5BEA0-62D1-415B-8A02-8E75F52E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956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Possession CD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1973E-ABD3-4757-A02B-27F9E559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5CF81-B2B9-4AF0-80D7-AE34B465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575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Candidate / Buff / Synergy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5788A-74FB-4B2E-A5A9-C02D7FC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6957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2E344-5DE8-4667-A27B-6CA15858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2877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78C89"/>
          </a:solidFill>
          <a:ln xmlns:a="http://schemas.openxmlformats.org/drawingml/2006/main" w="9525">
            <a:solidFill>
              <a:srgbClr val="078C8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2DD3A-ABB5-4306-8179-2857A6F2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7640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PLAYTEST KPI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F69E4-9CD8-419F-9C83-61699D59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717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87811-2E9F-4EBF-B9EF-AA3FDD2B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717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Host Hold / Tactical / Death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2BD49-F854-4129-B181-A4C48E9C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5C20D-F58E-4EAB-B2F0-877864DC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336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Ghost HP Pre-Switch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670B3B-0D1F-4A7A-ADAB-5B61B65E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B41BA-1BAB-4D49-838F-D3DD4786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956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10s Survival / Synergy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B18A3-240C-4052-9424-C91E72E2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60B770-E5DC-46AF-B0EB-97F72C6F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575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Streak / Cancel / READY Lost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8CDC2B-1699-442B-AEC8-EEF88699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6957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E451BB-AB95-434E-896A-F1A180B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28775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F9D55"/>
          </a:solidFill>
          <a:ln xmlns:a="http://schemas.openxmlformats.org/drawingml/2006/main" w="9525">
            <a:solidFill>
              <a:srgbClr val="1F9D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F3203D-0E9C-4D7F-9043-036A9A82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7640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DEFINITION OF DONE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5AC133-A9C1-4ED6-8CCE-5F7AD333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B88F05-BD91-4532-B3BD-1CE60444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717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B01 → Growth → B02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D7232E-1000-4314-A75D-74CFB656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B622F3-B863-463D-A2DA-3388F2F2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336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Growth → B03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A99615-BF0A-46AC-8A3E-36E0EDA9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386D51-9522-4A86-9583-198ABE84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9560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Save / Load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DA6C1B-2D1D-4B59-93D2-A45F9469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83ECC3-E15E-4E96-956C-21C964A2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57550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Actual View Swap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E4C772-65D3-49AC-BC10-14D8BD2C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E5C71C-6177-4AE6-A83E-606A3861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4D"/>
                </a:solidFill>
              </a:defRPr>
            </a:pPr>
            <a:r>
              <a:rPr sz="1500" b="1">
                <a:solidFill>
                  <a:srgbClr val="0B1F4D"/>
                </a:solidFill>
              </a:rPr>
              <a:t>DESIGN_EXPECTATION = 가설     ≠     PLAYTEST_RESULT = 증거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6C5312-2102-492A-8E0A-AE20E73A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197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44A4A"/>
                </a:solidFill>
              </a:defRPr>
            </a:pPr>
            <a:r>
              <a:rPr sz="1275" b="1">
                <a:solidFill>
                  <a:srgbClr val="E44A4A"/>
                </a:solidFill>
              </a:rPr>
              <a:t>“ROOM GENERATED” ≠ “PLAYABLE COMPLETE”     ·     CH1→CH3 FULL LOOP PASS = DONE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753C31-93CF-4456-98ED-355D22E6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PLAYTEST_RESULT · PLAYTEST_METRIC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9DC90A-013D-46B1-95A5-AF0805DA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Build·Variant·Room 단위 실측 데이터 확보</a:t>
            </a:r>
          </a:p>
        </p:txBody>
      </p:sp>
    </p:spTree>
    <p:extLst>
      <p:ext uri="{BB962C8B-B14F-4D97-AF65-F5344CB8AC3E}">
        <p14:creationId xmlns:p14="http://schemas.microsoft.com/office/powerpoint/2010/main" val="8565367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0004FF3-2EDB-4C38-81A6-250475D9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01567-1318-4077-B637-2D20A21B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15/17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49301-00DD-496D-B339-308B1990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Prefab에는 Logic 계약만 고정한다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0861B-72E6-4893-ADBC-69E868B8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Host·Enemy·Boss·Projectile·Hazard 필수 Component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EDA6E-791D-4AF1-A770-A37F2C24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E770E-05A7-4F3B-8FFB-6C2842D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2095500" cy="4095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4FA78-CC84-4A14-BB3D-0815A9D2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24025"/>
            <a:ext cx="2076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0BCD3-4584-4126-93E1-6128226A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771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7C595-510E-4EB7-B8DF-35FFBBD2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4D8"/>
                </a:solidFill>
              </a:defRPr>
            </a:pPr>
            <a:r>
              <a:rPr sz="1425" b="1">
                <a:solidFill>
                  <a:srgbClr val="2474D8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BA2EE-B1E9-4659-810D-0B0D26E9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33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HostController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EABD7-E719-4539-AB8A-0549E364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670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4D8"/>
                </a:solidFill>
              </a:defRPr>
            </a:pPr>
            <a:r>
              <a:rPr sz="1425" b="1">
                <a:solidFill>
                  <a:srgbClr val="2474D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1A308-F82C-426C-B109-6F57EF90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670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Movement / Health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DD2A7-B6B2-4E05-BA18-B99D0442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04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4D8"/>
                </a:solidFill>
              </a:defRPr>
            </a:pPr>
            <a:r>
              <a:rPr sz="1425" b="1">
                <a:solidFill>
                  <a:srgbClr val="2474D8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21972-9C7C-4497-BD4C-EF0B53A6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004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AttackController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E1DDE-AD9F-4BA8-9BFB-23C499D7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338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4D8"/>
                </a:solidFill>
              </a:defRPr>
            </a:pPr>
            <a:r>
              <a:rPr sz="1425" b="1">
                <a:solidFill>
                  <a:srgbClr val="2474D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10BC3-08A5-4DB4-A925-B1824587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338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PossessionReceiver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978C9-0817-4F36-97CC-523A10E4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672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4D8"/>
                </a:solidFill>
              </a:defRPr>
            </a:pPr>
            <a:r>
              <a:rPr sz="1425" b="1">
                <a:solidFill>
                  <a:srgbClr val="2474D8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43826-0C6A-4F68-898D-C505C5F3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672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Animator/VFX/Audio Bridge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97548-14A6-49AF-AF18-67E9EC2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14500"/>
            <a:ext cx="2095500" cy="4095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55172-C191-4ACF-8633-3A26E636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24025"/>
            <a:ext cx="2076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64E4E-AA11-4755-A3B2-5CF1B328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771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ENEMY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91ABDD-C0E4-4AD5-9526-DF36525A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44A4A"/>
                </a:solidFill>
              </a:defRPr>
            </a:pPr>
            <a:r>
              <a:rPr sz="1425" b="1">
                <a:solidFill>
                  <a:srgbClr val="E44A4A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3DC865-2926-4A2E-8AF6-3010F3C5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33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EnemyAI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046F4-65C6-45C7-A073-737CAD0F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670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44A4A"/>
                </a:solidFill>
              </a:defRPr>
            </a:pPr>
            <a:r>
              <a:rPr sz="1425" b="1">
                <a:solidFill>
                  <a:srgbClr val="E44A4A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5DD26-11C6-4260-8ACA-C76B78B6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670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Health / 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7752EA-EB46-45D4-845C-52BF4ADA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004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44A4A"/>
                </a:solidFill>
              </a:defRPr>
            </a:pPr>
            <a:r>
              <a:rPr sz="1425" b="1">
                <a:solidFill>
                  <a:srgbClr val="E44A4A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0B3CD-EC66-4521-9B5E-AD68C4F7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004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AttackController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C1BD84-891B-4201-9E58-145BF7BB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338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44A4A"/>
                </a:solidFill>
              </a:defRPr>
            </a:pPr>
            <a:r>
              <a:rPr sz="1425" b="1">
                <a:solidFill>
                  <a:srgbClr val="E44A4A"/>
                </a:solidFill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5A3978-F2D4-4A71-A9C4-E58C5698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9338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PossessionCondition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EA1317-97B0-4657-AD80-D2B1DCBA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672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44A4A"/>
                </a:solidFill>
              </a:defRPr>
            </a:pPr>
            <a:r>
              <a:rPr sz="1425" b="1">
                <a:solidFill>
                  <a:srgbClr val="E44A4A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9DF185-F6F4-47AC-95E6-B5C84D7C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4672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Hurtbox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A1E7BA-33E4-42A1-9F31-2FC28C61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2095500" cy="4095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C8EF40-E3FD-400C-9D89-35F808C6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724025"/>
            <a:ext cx="2076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D1E2D"/>
          </a:solidFill>
          <a:ln xmlns:a="http://schemas.openxmlformats.org/drawingml/2006/main" w="9525">
            <a:solidFill>
              <a:srgbClr val="8D1E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64C0AD-2791-432F-90C8-892C76FB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771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BOSS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DD1BEA-8F22-4E8D-81B7-E5C8E93F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36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D1E2D"/>
                </a:solidFill>
              </a:defRPr>
            </a:pPr>
            <a:r>
              <a:rPr sz="1425" b="1">
                <a:solidFill>
                  <a:srgbClr val="8D1E2D"/>
                </a:solidFill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6CB275-867A-40A8-95B7-7412CBF7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33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BossPhaseController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4A0640-157F-43AC-9160-DFC95B14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670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D1E2D"/>
                </a:solidFill>
              </a:defRPr>
            </a:pPr>
            <a:r>
              <a:rPr sz="1425" b="1">
                <a:solidFill>
                  <a:srgbClr val="8D1E2D"/>
                </a:solidFill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114323-628F-4D14-87C5-A844B262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8670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BossAttack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383E83-39A5-4E3B-AC98-245531CE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004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D1E2D"/>
                </a:solidFill>
              </a:defRPr>
            </a:pPr>
            <a:r>
              <a:rPr sz="1425" b="1">
                <a:solidFill>
                  <a:srgbClr val="8D1E2D"/>
                </a:solidFill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6F2028-7210-48A4-B248-C0EF3381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4004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Health / Status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5466C5-A755-4F66-A36D-8B0D89C6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338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D1E2D"/>
                </a:solidFill>
              </a:defRPr>
            </a:pPr>
            <a:r>
              <a:rPr sz="1425" b="1">
                <a:solidFill>
                  <a:srgbClr val="8D1E2D"/>
                </a:solidFill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CAFD84-E595-4478-837B-63AE8247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9338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NotPossessable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6DBF13-D2C9-46E4-A7AA-AE05D6F5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672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D1E2D"/>
                </a:solidFill>
              </a:defRPr>
            </a:pPr>
            <a:r>
              <a:rPr sz="1425" b="1">
                <a:solidFill>
                  <a:srgbClr val="8D1E2D"/>
                </a:solidFill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43BD52-9409-4674-81A9-F95BB025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4672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Telegraph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126BE0-2E88-40AF-BE93-AD652B85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2095500" cy="4095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A5DD65-34EE-4A34-93F3-625DBFBE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24025"/>
            <a:ext cx="2076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8BD308-BBC7-460B-8D7F-35E0138A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771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PROJECTILE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B4C1E5-7561-4E19-9E97-247FF0C0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336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A9C7"/>
                </a:solidFill>
              </a:defRPr>
            </a:pPr>
            <a:r>
              <a:rPr sz="1425" b="1">
                <a:solidFill>
                  <a:srgbClr val="05A9C7"/>
                </a:solidFill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F4344E-2AC4-4953-858E-0B836E35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333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ProjectileView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FC0909-0268-4965-8008-D6210EAF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670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A9C7"/>
                </a:solidFill>
              </a:defRPr>
            </a:pPr>
            <a:r>
              <a:rPr sz="1425" b="1">
                <a:solidFill>
                  <a:srgbClr val="05A9C7"/>
                </a:solidFill>
              </a:rPr>
              <a:t>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F42C2C-7768-413F-8149-80BFF85A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8670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Hitbox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A1A2C0-90BC-4F53-A8AB-DFE500CD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004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A9C7"/>
                </a:solidFill>
              </a:defRPr>
            </a:pPr>
            <a:r>
              <a:rPr sz="1425" b="1">
                <a:solidFill>
                  <a:srgbClr val="05A9C7"/>
                </a:solidFill>
              </a:rPr>
              <a:t>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B29E0B-0CC5-4B21-88E0-7E0121F5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004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Lifetime / Pool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D3E3F9-BB06-45D6-B846-6D5080A4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338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A9C7"/>
                </a:solidFill>
              </a:defRPr>
            </a:pPr>
            <a:r>
              <a:rPr sz="1425" b="1">
                <a:solidFill>
                  <a:srgbClr val="05A9C7"/>
                </a:solidFill>
              </a:rPr>
              <a:t>✓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85D9C7-35DA-47BA-9F60-70595C5E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9338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TeamRule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899EE2-F71E-41A7-95DC-F63C4F3F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672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A9C7"/>
                </a:solidFill>
              </a:defRPr>
            </a:pPr>
            <a:r>
              <a:rPr sz="1425" b="1">
                <a:solidFill>
                  <a:srgbClr val="05A9C7"/>
                </a:solidFill>
              </a:rPr>
              <a:t>✓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801666-8197-4AE6-A50B-208C154C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4672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VFX/SFX Hook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FB82775-AFE2-4541-B009-A475E0D8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14500"/>
            <a:ext cx="2095500" cy="4095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4E4197-B1C4-4FE3-AB39-532A122E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724025"/>
            <a:ext cx="2076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37B1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750F01-DD52-4899-8AE1-4037D061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7716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HAZARD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7311DF-F9FE-4D7F-8FA7-35955D62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336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37B18"/>
                </a:solidFill>
              </a:defRPr>
            </a:pPr>
            <a:r>
              <a:rPr sz="1425" b="1">
                <a:solidFill>
                  <a:srgbClr val="E37B18"/>
                </a:solidFill>
              </a:rPr>
              <a:t>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9F29C3-027A-4924-8435-75851E25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333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HazardController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93C352-02C6-4094-9F3B-37D8B2AF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670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37B18"/>
                </a:solidFill>
              </a:defRPr>
            </a:pPr>
            <a:r>
              <a:rPr sz="1425" b="1">
                <a:solidFill>
                  <a:srgbClr val="E37B18"/>
                </a:solidFill>
              </a:rPr>
              <a:t>✓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95EAA9-DAAE-42C9-A2BE-31F26933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8670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Trigger Collider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E936CC5-2DFA-4277-8FA7-95F97A5E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004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37B18"/>
                </a:solidFill>
              </a:defRPr>
            </a:pPr>
            <a:r>
              <a:rPr sz="1425" b="1">
                <a:solidFill>
                  <a:srgbClr val="E37B18"/>
                </a:solidFill>
              </a:rPr>
              <a:t>✓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118C47-C9BF-4B1A-A0F6-E43C1351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4004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Damage/Status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EF80162-E16C-4920-AC82-EDFE8238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338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37B18"/>
                </a:solidFill>
              </a:defRPr>
            </a:pPr>
            <a:r>
              <a:rPr sz="1425" b="1">
                <a:solidFill>
                  <a:srgbClr val="E37B18"/>
                </a:solidFill>
              </a:rPr>
              <a:t>✓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5200E7-4EE4-42F0-AEB1-A3DF3595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338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Telegraph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B3443C-9A39-473C-9963-D21AEBB4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672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37B18"/>
                </a:solidFill>
              </a:defRPr>
            </a:pPr>
            <a:r>
              <a:rPr sz="1425" b="1">
                <a:solidFill>
                  <a:srgbClr val="E37B18"/>
                </a:solidFill>
              </a:rPr>
              <a:t>✓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4081FA-B82C-4025-BC27-43264B69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4672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Lifetime/Event Hook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752E0D5-9022-4411-A1E0-08BB7024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PREFAB_REGISTRY · UNITY_RUNTIME_CLASS_LIST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02B5AA0-3703-4AA9-8DE3-30333DAF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Missing logic component 0, Missing art는 fallback 허용</a:t>
            </a:r>
          </a:p>
        </p:txBody>
      </p:sp>
    </p:spTree>
    <p:extLst>
      <p:ext uri="{BB962C8B-B14F-4D97-AF65-F5344CB8AC3E}">
        <p14:creationId xmlns:p14="http://schemas.microsoft.com/office/powerpoint/2010/main" val="1693730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718302-7A8F-4129-A289-948A095D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74660-ECE0-4275-B68C-D4854B64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16/17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B29C1-2E5B-4F0C-9921-9E094B2A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Character View는 Logic을 건드리지 않고 교체한다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D711C-DBC2-40B5-9FF1-3F96F43F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Animation·Socket·Hitbox 리소스 인수 조건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D4F78-E276-40DE-9E6E-632A3B2A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50F7C-FF64-4C0E-B4E3-958672CA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66875"/>
            <a:ext cx="36957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05720-B4D4-43D6-9221-D672BA56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474D8"/>
          </a:solidFill>
          <a:ln xmlns:a="http://schemas.openxmlformats.org/drawingml/2006/main" w="9525">
            <a:solidFill>
              <a:srgbClr val="247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D05EC-6CB6-4BEC-A301-2DAF9B1A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724025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ANIMATION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C8FD3-2E34-4A2A-88C1-D28CF153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193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FAB51-EB02-4457-BBA2-B3A62E0A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1932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Idle / Move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2958D-BF69-4935-8F10-626F84BA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812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C21E7-D8B1-4026-93DB-072D03E7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8127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Attack / Hit / Death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90F7E-D551-43E2-82D1-82C963B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432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8022C-64E2-4CB1-8E0B-7ACD1F28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4322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Ultimate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469B9-4AF6-49E0-A443-5916D320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051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C2D80-B125-42B5-850B-B09553AD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0517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Possession In / 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A6B82-C47F-4A6E-89C4-7EFCFC1C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66875"/>
            <a:ext cx="36957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7BBB5-1957-4EB6-8BCC-D75F8F52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76400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5A9C7"/>
          </a:solidFill>
          <a:ln xmlns:a="http://schemas.openxmlformats.org/drawingml/2006/main" w="9525">
            <a:solidFill>
              <a:srgbClr val="05A9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638F6-8F8B-4535-9EE2-E8477AA4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24025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SOCKET &amp; PHYSICS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97B8A-CB1D-46CB-B6CD-AB249315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193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11C8F5-C743-40F0-BACE-D5FE84BB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1932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Feet / Pivot / 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EE5F9-063C-4C33-BE3C-960D2A5F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812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AEF90A-8819-43E5-8512-CF52BB48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8127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Weapon / Projectile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921AD8-88A6-458C-9F05-A201201B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432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FCA46F-15FE-40BC-A4A9-1BE4C07B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4322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VFX Socket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5E1C1C-5FA9-450A-B91C-55E2DB60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051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BE677-C7E9-41CB-8FCA-0FAD04F4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0517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Hitbox / Hurtbox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D89BD1-EB3A-4985-A114-F6FE168F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66875"/>
            <a:ext cx="36957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CBF245-E567-4B78-9062-D6120DB1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76400"/>
            <a:ext cx="3676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78C89"/>
          </a:solidFill>
          <a:ln xmlns:a="http://schemas.openxmlformats.org/drawingml/2006/main" w="9525">
            <a:solidFill>
              <a:srgbClr val="078C8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536549-7913-43C8-AB7A-776EA89B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24025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10E535-7CAC-4F45-8FB5-A7A7D3B1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2CEF94-0790-4849-9116-220F8AFD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1932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Animator Params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BA1C74-2318-4346-917D-53822CD9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812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4F3514-E9D1-489F-A547-FFC7B96B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8127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Attack Telegraph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FC8F46-E53B-4AA9-AE05-B30B20B9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4322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668F21-F6D0-4C4B-9E70-D42DF671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4322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VFX / SFX Hook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03A6AF-A648-4E56-AE54-25707E02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051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9D55"/>
                </a:solidFill>
              </a:defRPr>
            </a:pPr>
            <a:r>
              <a:rPr sz="1425" b="1">
                <a:solidFill>
                  <a:srgbClr val="1F9D55"/>
                </a:solidFill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DEF6DA-681C-4EC8-B257-7986B397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05175"/>
            <a:ext cx="3114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736"/>
                </a:solidFill>
              </a:defRPr>
            </a:pPr>
            <a:r>
              <a:rPr sz="1200" b="0">
                <a:solidFill>
                  <a:srgbClr val="0B1736"/>
                </a:solidFill>
              </a:rPr>
              <a:t>Sorting / Shadow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F32442-DD57-421D-8888-38422997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1009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1A6936-5D04-4514-9E64-6C628C28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37B18"/>
                </a:solidFill>
              </a:defRPr>
            </a:pPr>
            <a:r>
              <a:rPr sz="1500" b="1">
                <a:solidFill>
                  <a:srgbClr val="E37B18"/>
                </a:solidFill>
              </a:rPr>
              <a:t>LOCK: LogicRoot 수정 금지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CE4582-E15A-4974-A762-201E58DB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53050"/>
            <a:ext cx="542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4D"/>
                </a:solidFill>
              </a:defRPr>
            </a:pPr>
            <a:r>
              <a:rPr sz="1500" b="1">
                <a:solidFill>
                  <a:srgbClr val="0B1F4D"/>
                </a:solidFill>
              </a:rPr>
              <a:t>View Prefab + Bridge + Registry만 교체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3CD7B0-507A-4BC2-BFD0-949B53E0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6737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7A"/>
                </a:solidFill>
              </a:defRPr>
            </a:pPr>
            <a:r>
              <a:rPr sz="1125" b="0">
                <a:solidFill>
                  <a:srgbClr val="53627A"/>
                </a:solidFill>
              </a:rPr>
              <a:t>Resource Swap Acceptance = 전투 결과·RuntimeID·Collider Contract 불변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C7D519-9064-4D91-986A-2C8BE689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CHARACTER_RESOURCE_SPEC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1DD883-8206-4D62-96D2-343E1823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ViewRoot 교체 후 Gameplay 결과 동일</a:t>
            </a:r>
          </a:p>
        </p:txBody>
      </p:sp>
    </p:spTree>
    <p:extLst>
      <p:ext uri="{BB962C8B-B14F-4D97-AF65-F5344CB8AC3E}">
        <p14:creationId xmlns:p14="http://schemas.microsoft.com/office/powerpoint/2010/main" val="12124468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2B0405-0210-4104-A0F6-BD201A55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D"/>
                </a:solidFill>
              </a:defRPr>
            </a:pPr>
            <a:r>
              <a:rPr sz="1275" b="1">
                <a:solidFill>
                  <a:srgbClr val="0B1F4D"/>
                </a:solidFill>
              </a:rPr>
              <a:t>AVENGING SPIRIT  RE:BORN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94460-2EB2-474C-A77F-2DB57EBD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DEV GUIDE 17/17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E2606-6D66-4895-B655-E0B0DD57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3875"/>
            <a:ext cx="1123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736"/>
                </a:solidFill>
              </a:defRPr>
            </a:pPr>
            <a:r>
              <a:rPr sz="2700" b="1">
                <a:solidFill>
                  <a:srgbClr val="0B1736"/>
                </a:solidFill>
              </a:rPr>
              <a:t>Error는 생성 전에 막고 Warning은 기록한다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266B9-3B6D-4FA4-82EA-4053134C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개발 중 가장 자주 보는 QA Quick Reference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CAF76-DB76-44CC-B216-74FE5DBF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D5867-748E-4CF1-9239-D9012F0F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42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9502E-4331-40A8-A700-9DB724C8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0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6"/>
                </a:solidFill>
              </a:defRPr>
            </a:pPr>
            <a:r>
              <a:rPr sz="1350" b="1">
                <a:solidFill>
                  <a:srgbClr val="0B1736"/>
                </a:solidFill>
              </a:rPr>
              <a:t>Duplicate RuntimeID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5D1BA-F060-4CB8-9E4F-670FD591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00225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F095A-DA84-4A41-B3D6-A5529DEA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573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3C5C2-7334-4E51-9737-4422E322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38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Build 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F54DF-F67B-4242-A23B-278E3439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42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D8C0A-3D8C-452B-9DC5-A81BAEB0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0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6"/>
                </a:solidFill>
              </a:defRPr>
            </a:pPr>
            <a:r>
              <a:rPr sz="1350" b="1">
                <a:solidFill>
                  <a:srgbClr val="0B1736"/>
                </a:solidFill>
              </a:rPr>
              <a:t>Missing 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C523B-530A-4895-A4D3-50B592A1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0225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9FD86-E026-486D-A3EB-F446D9E2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573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A97A0-9E93-4B26-9136-46950383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838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Build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FC7C5-BAAD-4042-974A-977A80E0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542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9DE59-02CA-4318-A494-D3FE8C5C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955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6"/>
                </a:solidFill>
              </a:defRPr>
            </a:pPr>
            <a:r>
              <a:rPr sz="1350" b="1">
                <a:solidFill>
                  <a:srgbClr val="0B1736"/>
                </a:solidFill>
              </a:rPr>
              <a:t>Invalid Condition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186ED-FA53-49BA-B681-861E2F8D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95575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EB333-925E-4AF9-94BF-D022C230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527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C7BC6-9CDC-4DAC-A663-CEF3C475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Import Block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C52A2-80C1-45CF-A1E8-1DAC04A2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62225"/>
            <a:ext cx="542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E98FD-EECD-4103-83B7-942275D5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6955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6"/>
                </a:solidFill>
              </a:defRPr>
            </a:pPr>
            <a:r>
              <a:rPr sz="1350" b="1">
                <a:solidFill>
                  <a:srgbClr val="0B1736"/>
                </a:solidFill>
              </a:rPr>
              <a:t>Spawn Outside Bounds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5DE7C-0450-4F30-B038-778C8C2E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95575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660C5-4DED-40F2-9A1C-4ED5167B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527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43DBF-6031-440D-A05E-DDA2F3B6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7336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Room Block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092559-ABA1-4127-9D79-08409767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57575"/>
            <a:ext cx="542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B418E-73A0-4E02-B964-09B527CA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6"/>
                </a:solidFill>
              </a:defRPr>
            </a:pPr>
            <a:r>
              <a:rPr sz="1350" b="1">
                <a:solidFill>
                  <a:srgbClr val="0B1736"/>
                </a:solidFill>
              </a:rPr>
              <a:t>Boss Possessable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472862-E731-4683-870B-2C9C9EA8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90925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18C3F-74D1-4C5E-9E37-3F63EAF8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480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4FC3EC-AEF1-4A0B-B1AC-3B1CDD33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290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Build Block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43DC50-D49A-4C40-86DE-1162121E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542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299895-D184-4A64-A986-96907C45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909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6"/>
                </a:solidFill>
              </a:defRPr>
            </a:pPr>
            <a:r>
              <a:rPr sz="1350" b="1">
                <a:solidFill>
                  <a:srgbClr val="0B1736"/>
                </a:solidFill>
              </a:rPr>
              <a:t>Exit Missing / Orphan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8F7A70-EC70-4E1E-BCF3-05EA71ED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90925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4A4A"/>
          </a:solidFill>
          <a:ln xmlns:a="http://schemas.openxmlformats.org/drawingml/2006/main" w="9525">
            <a:solidFill>
              <a:srgbClr val="E44A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C43FC3-CB0B-45AF-9F53-E60C908C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480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05F56-FF69-447D-8C7F-0104E5CA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6290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Room Block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07A85A-6FBB-4BEB-AC49-E6425941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542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02E61A-CC38-462E-B855-8F5ACB9F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862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6"/>
                </a:solidFill>
              </a:defRPr>
            </a:pPr>
            <a:r>
              <a:rPr sz="1350" b="1">
                <a:solidFill>
                  <a:srgbClr val="0B1736"/>
                </a:solidFill>
              </a:rPr>
              <a:t>Missing Final Art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796DCD-6A8C-4FF0-9C80-4AF78189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86275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37B18"/>
          </a:solidFill>
          <a:ln xmlns:a="http://schemas.openxmlformats.org/drawingml/2006/main" w="9525">
            <a:solidFill>
              <a:srgbClr val="E37B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F31AD0-C4B1-4453-916D-77DE7C75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434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WARNING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F75239-D942-4A38-891B-315C2794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243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Placeholder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48D741-591B-4816-A15C-A1B1E1F5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52925"/>
            <a:ext cx="5429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0D3D87-6D6D-43A0-9C0E-2D61CE11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862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736"/>
                </a:solidFill>
              </a:defRPr>
            </a:pPr>
            <a:r>
              <a:rPr sz="1350" b="1">
                <a:solidFill>
                  <a:srgbClr val="0B1736"/>
                </a:solidFill>
              </a:rPr>
              <a:t>Design Expectation Miss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6EE5DF-8B1C-4DF3-A8BA-5C280F5E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86275"/>
            <a:ext cx="85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78C89"/>
          </a:solidFill>
          <a:ln xmlns:a="http://schemas.openxmlformats.org/drawingml/2006/main" w="9525">
            <a:solidFill>
              <a:srgbClr val="078C8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20AAFF-5480-46B0-8492-F75FAE26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434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9933B3-97AB-46A0-BDDF-4D74E5AA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5243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Record Result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43269F-6670-42F0-95D7-5D70E0ED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76875"/>
            <a:ext cx="7524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1F9D5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732E20-45AC-4304-B822-FC53A87B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704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9D55"/>
                </a:solidFill>
              </a:defRPr>
            </a:pPr>
            <a:r>
              <a:rPr sz="1350" b="1">
                <a:solidFill>
                  <a:srgbClr val="1F9D55"/>
                </a:solidFill>
              </a:rPr>
              <a:t>VALIDATE → ERROR 0 → GENERATE → SMOKE → PLAYTEST RESULT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DE3CDC-0195-42F1-A5FA-7356F0BA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A"/>
                </a:solidFill>
              </a:defRPr>
            </a:pPr>
            <a:r>
              <a:rPr sz="825" b="0">
                <a:solidFill>
                  <a:srgbClr val="53627A"/>
                </a:solidFill>
              </a:rPr>
              <a:t>SOURCE  DATA_CONTRACT · HANDOFF_VALIDATION_REPORT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FB0BD4-1382-4C4C-92AC-5F58A31D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7700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F9D55"/>
                </a:solidFill>
              </a:defRPr>
            </a:pPr>
            <a:r>
              <a:rPr sz="900" b="1">
                <a:solidFill>
                  <a:srgbClr val="1F9D55"/>
                </a:solidFill>
              </a:rPr>
              <a:t>PASS  Blocker 0에서만 Room/Build 생성</a:t>
            </a:r>
          </a:p>
        </p:txBody>
      </p:sp>
    </p:spTree>
    <p:extLst>
      <p:ext uri="{BB962C8B-B14F-4D97-AF65-F5344CB8AC3E}">
        <p14:creationId xmlns:p14="http://schemas.microsoft.com/office/powerpoint/2010/main" val="2017182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2026-08-11T04:14:00.7680000Z</dcterms:created>
  <dcterms:modified xsi:type="dcterms:W3CDTF">2026-08-11T04:14:00.7680000Z</dcterms:modified>
</coreProperties>
</file>